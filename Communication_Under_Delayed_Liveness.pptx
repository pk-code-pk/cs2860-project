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300" b="0" i="0" u="none" strike="noStrike">
                <a:solidFill>
                  <a:srgbClr val="1E2761"/>
                </a:solidFill>
                <a:latin typeface="Calibri"/>
              </a:defRPr>
            </a:pPr>
            <a:r>
              <a:rPr sz="1300" b="0" i="0" u="none" strike="noStrike">
                <a:solidFill>
                  <a:srgbClr val="1E2761"/>
                </a:solidFill>
                <a:latin typeface="Calibri"/>
              </a:rPr>
              <a:t>Tiny 2-agent (D = 30, delay-dropout)  —  unshaped eval</a:t>
            </a:r>
          </a:p>
        </c:rich>
      </c:tx>
      <c:layout/>
      <c:overlay val="0"/>
    </c:title>
    <c:autoTitleDeleted val="0"/>
    <c:plotArea>
      <c:layout/>
      <c:barChart>
        <c:barDir val="col"/>
        <c:grouping val="clustered"/>
        <c:varyColors val="0"/>
        <c:ser>
          <c:idx val="0"/>
          <c:order val="0"/>
          <c:tx>
            <c:strRef>
              <c:f>Sheet1!$B$1</c:f>
              <c:strCache>
                <c:ptCount val="1"/>
                <c:pt idx="0">
                  <c:v>delay-dropout eval</c:v>
                </c:pt>
              </c:strCache>
            </c:strRef>
          </c:tx>
          <c:spPr>
            <a:solidFill>
              <a:srgbClr val="1E2761"/>
            </a:solidFill>
            <a:effectLst/>
          </c:spPr>
          <c:invertIfNegative val="0"/>
          <c:dLbls>
            <c:numFmt formatCode="0.00" sourceLinked="0"/>
            <c:txPr>
              <a:bodyPr/>
              <a:lstStyle/>
              <a:p>
                <a:pPr>
                  <a:defRPr b="0" i="0" strike="noStrike" sz="1200" u="none">
                    <a:solidFill>
                      <a:srgbClr val="1E2761"/>
                    </a:solidFill>
                    <a:latin typeface="Calibri"/>
                  </a:defRPr>
                </a:pPr>
              </a:p>
            </c:txPr>
            <c:showLegendKey val="0"/>
            <c:showVal val="1"/>
            <c:showCatName val="0"/>
            <c:showSerName val="0"/>
            <c:showPercent val="0"/>
            <c:showBubbleSize val="0"/>
            <c:showLeaderLines val="0"/>
          </c:dLbls>
          <c:cat>
            <c:multiLvlStrRef>
              <c:f>Sheet1!$A$2:$A$4</c:f>
              <c:multiLvlStrCache>
                <c:ptCount val="3"/>
                <c:lvl>
                  <c:pt idx="0">
                    <c:v>heartbeat-only</c:v>
                  </c:pt>
                  <c:pt idx="1">
                    <c:v>hb + learned comm</c:v>
                  </c:pt>
                  <c:pt idx="2">
                    <c:v>hb + oracle
(death-token)</c:v>
                  </c:pt>
                </c:lvl>
              </c:multiLvlStrCache>
            </c:multiLvlStrRef>
          </c:cat>
          <c:val>
            <c:numRef>
              <c:f>Sheet1!$B$2:$B$4</c:f>
              <c:numCache>
                <c:formatCode>General</c:formatCode>
                <c:ptCount val="3"/>
                <c:pt idx="0">
                  <c:v>12.63</c:v>
                </c:pt>
                <c:pt idx="1">
                  <c:v>8.33</c:v>
                </c:pt>
                <c:pt idx="2">
                  <c:v>10.88</c:v>
                </c:pt>
              </c:numCache>
            </c:numRef>
          </c:val>
        </c:ser>
        <c:dLbls>
          <c:numFmt formatCode="0.00" sourceLinked="0"/>
          <c:txPr>
            <a:bodyPr/>
            <a:lstStyle/>
            <a:p>
              <a:pPr>
                <a:defRPr b="0" i="0" strike="noStrike" sz="1200" u="none">
                  <a:solidFill>
                    <a:srgbClr val="1E2761"/>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F94"/>
                </a:solidFill>
                <a:latin typeface="Calibri"/>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F94"/>
                </a:solidFill>
                <a:latin typeface="Calibri"/>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Calibri"/>
              </a:defRPr>
            </a:pPr>
            <a:r>
              <a:rPr sz="1300" b="0" i="0" u="none" strike="noStrike">
                <a:solidFill>
                  <a:srgbClr val="1E2761"/>
                </a:solidFill>
                <a:latin typeface="Calibri"/>
              </a:rPr>
              <a:t>HRL on tiny 2-agent (D = 30) — unshaped eval</a:t>
            </a:r>
          </a:p>
        </c:rich>
      </c:tx>
      <c:layout/>
      <c:overlay val="0"/>
    </c:title>
    <c:autoTitleDeleted val="0"/>
    <c:plotArea>
      <c:layout/>
      <c:barChart>
        <c:barDir val="col"/>
        <c:grouping val="clustered"/>
        <c:varyColors val="0"/>
        <c:ser>
          <c:idx val="0"/>
          <c:order val="0"/>
          <c:tx>
            <c:strRef>
              <c:f>Sheet1!$B$1</c:f>
              <c:strCache>
                <c:ptCount val="1"/>
                <c:pt idx="0">
                  <c:v>delay-only</c:v>
                </c:pt>
              </c:strCache>
            </c:strRef>
          </c:tx>
          <c:spPr>
            <a:solidFill>
              <a:srgbClr val="1E2761"/>
            </a:solidFill>
            <a:effectLst/>
          </c:spPr>
          <c:invertIfNegative val="0"/>
          <c:dLbls>
            <c:numFmt formatCode="0.00" sourceLinked="0"/>
            <c:txPr>
              <a:bodyPr/>
              <a:lstStyle/>
              <a:p>
                <a:pPr>
                  <a:defRPr b="0" i="0" strike="noStrike" sz="1100" u="none">
                    <a:solidFill>
                      <a:srgbClr val="1E2761"/>
                    </a:solidFill>
                    <a:latin typeface="Calibri"/>
                  </a:defRPr>
                </a:pPr>
              </a:p>
            </c:txPr>
            <c:showLegendKey val="0"/>
            <c:showVal val="1"/>
            <c:showCatName val="0"/>
            <c:showSerName val="0"/>
            <c:showPercent val="0"/>
            <c:showBubbleSize val="0"/>
            <c:showLeaderLines val="0"/>
          </c:dLbls>
          <c:cat>
            <c:multiLvlStrRef>
              <c:f>Sheet1!$A$2:$A$4</c:f>
              <c:multiLvlStrCache>
                <c:ptCount val="3"/>
                <c:lvl>
                  <c:pt idx="0">
                    <c:v>hrl</c:v>
                  </c:pt>
                  <c:pt idx="1">
                    <c:v>hrl-comm</c:v>
                  </c:pt>
                  <c:pt idx="2">
                    <c:v>hrl-oracle-high</c:v>
                  </c:pt>
                </c:lvl>
              </c:multiLvlStrCache>
            </c:multiLvlStrRef>
          </c:cat>
          <c:val>
            <c:numRef>
              <c:f>Sheet1!$B$2:$B$4</c:f>
              <c:numCache>
                <c:formatCode>General</c:formatCode>
                <c:ptCount val="3"/>
                <c:pt idx="0">
                  <c:v>0.1</c:v>
                </c:pt>
                <c:pt idx="1">
                  <c:v>0.08</c:v>
                </c:pt>
                <c:pt idx="2">
                  <c:v>0.15</c:v>
                </c:pt>
              </c:numCache>
            </c:numRef>
          </c:val>
        </c:ser>
        <c:ser>
          <c:idx val="1"/>
          <c:order val="1"/>
          <c:tx>
            <c:strRef>
              <c:f>Sheet1!$C$1</c:f>
              <c:strCache>
                <c:ptCount val="1"/>
                <c:pt idx="0">
                  <c:v>delay-dropout</c:v>
                </c:pt>
              </c:strCache>
            </c:strRef>
          </c:tx>
          <c:spPr>
            <a:solidFill>
              <a:srgbClr val="E8A33D"/>
            </a:solidFill>
            <a:effectLst/>
          </c:spPr>
          <c:invertIfNegative val="0"/>
          <c:dLbls>
            <c:numFmt formatCode="0.00" sourceLinked="0"/>
            <c:txPr>
              <a:bodyPr/>
              <a:lstStyle/>
              <a:p>
                <a:pPr>
                  <a:defRPr b="0" i="0" strike="noStrike" sz="1100" u="none">
                    <a:solidFill>
                      <a:srgbClr val="1E2761"/>
                    </a:solidFill>
                    <a:latin typeface="Calibri"/>
                  </a:defRPr>
                </a:pPr>
              </a:p>
            </c:txPr>
            <c:showLegendKey val="0"/>
            <c:showVal val="1"/>
            <c:showCatName val="0"/>
            <c:showSerName val="0"/>
            <c:showPercent val="0"/>
            <c:showBubbleSize val="0"/>
            <c:showLeaderLines val="0"/>
          </c:dLbls>
          <c:cat>
            <c:multiLvlStrRef>
              <c:f>Sheet1!$A$2:$A$4</c:f>
              <c:multiLvlStrCache>
                <c:ptCount val="3"/>
                <c:lvl>
                  <c:pt idx="0">
                    <c:v>hrl</c:v>
                  </c:pt>
                  <c:pt idx="1">
                    <c:v>hrl-comm</c:v>
                  </c:pt>
                  <c:pt idx="2">
                    <c:v>hrl-oracle-high</c:v>
                  </c:pt>
                </c:lvl>
              </c:multiLvlStrCache>
            </c:multiLvlStrRef>
          </c:cat>
          <c:val>
            <c:numRef>
              <c:f>Sheet1!$C$2:$C$4</c:f>
              <c:numCache>
                <c:formatCode>General</c:formatCode>
                <c:ptCount val="3"/>
                <c:pt idx="0">
                  <c:v>0.03</c:v>
                </c:pt>
                <c:pt idx="1">
                  <c:v>0.12</c:v>
                </c:pt>
                <c:pt idx="2">
                  <c:v>0.15</c:v>
                </c:pt>
              </c:numCache>
            </c:numRef>
          </c:val>
        </c:ser>
        <c:dLbls>
          <c:numFmt formatCode="0.00" sourceLinked="0"/>
          <c:txPr>
            <a:bodyPr/>
            <a:lstStyle/>
            <a:p>
              <a:pPr>
                <a:defRPr b="0" i="0" strike="noStrike" sz="1100" u="none">
                  <a:solidFill>
                    <a:srgbClr val="1E2761"/>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F94"/>
                </a:solidFill>
                <a:latin typeface="Calibri"/>
              </a:defRPr>
            </a:pPr>
            <a:endParaRPr lang="en-US"/>
          </a:p>
        </c:txPr>
        <c:crossAx val="2094734552"/>
        <c:crosses val="autoZero"/>
        <c:auto val="1"/>
        <c:lblAlgn val="ctr"/>
        <c:noMultiLvlLbl val="1"/>
      </c:catAx>
      <c:valAx>
        <c:axId val="2094734552"/>
        <c:scaling>
          <c:orientation val="minMax"/>
          <c:max val="0.25"/>
          <c:min val="0"/>
        </c:scaling>
        <c:delete val="0"/>
        <c:axPos val="l"/>
        <c:majorGridlines>
          <c:spPr>
            <a:ln w="6350" cap="flat">
              <a:solidFill>
                <a:srgbClr val="E2E8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F9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F94"/>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4937760"/>
            <a:ext cx="12191695" cy="36576"/>
          </a:xfrm>
          <a:prstGeom prst="rect">
            <a:avLst/>
          </a:prstGeom>
          <a:solidFill>
            <a:srgbClr val="E8A33D"/>
          </a:solidFill>
          <a:ln/>
        </p:spPr>
      </p:sp>
      <p:sp>
        <p:nvSpPr>
          <p:cNvPr id="3" name="Text 1"/>
          <p:cNvSpPr/>
          <p:nvPr/>
        </p:nvSpPr>
        <p:spPr>
          <a:xfrm>
            <a:off x="640080" y="1005840"/>
            <a:ext cx="10972800" cy="365760"/>
          </a:xfrm>
          <a:prstGeom prst="rect">
            <a:avLst/>
          </a:prstGeom>
          <a:noFill/>
          <a:ln/>
        </p:spPr>
        <p:txBody>
          <a:bodyPr wrap="square" lIns="0" tIns="0" rIns="0" bIns="0" rtlCol="0" anchor="ctr"/>
          <a:lstStyle/>
          <a:p>
            <a:pPr indent="0" marL="0">
              <a:buNone/>
            </a:pPr>
            <a:r>
              <a:rPr lang="en-US" sz="1200" b="1" spc="600" kern="0" dirty="0">
                <a:solidFill>
                  <a:srgbClr val="CADCFC"/>
                </a:solidFill>
                <a:latin typeface="Calibri" pitchFamily="34" charset="0"/>
                <a:ea typeface="Calibri" pitchFamily="34" charset="-122"/>
                <a:cs typeface="Calibri" pitchFamily="34" charset="-120"/>
              </a:rPr>
              <a:t>IEEE-STYLE RESEARCH PRESENTATION</a:t>
            </a:r>
            <a:endParaRPr lang="en-US" sz="1200" dirty="0"/>
          </a:p>
        </p:txBody>
      </p:sp>
      <p:sp>
        <p:nvSpPr>
          <p:cNvPr id="4" name="Text 2"/>
          <p:cNvSpPr/>
          <p:nvPr/>
        </p:nvSpPr>
        <p:spPr>
          <a:xfrm>
            <a:off x="640080" y="1463040"/>
            <a:ext cx="10972800" cy="12801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Communication Under Delayed Liveness</a:t>
            </a:r>
            <a:endParaRPr lang="en-US" sz="4400" dirty="0"/>
          </a:p>
        </p:txBody>
      </p:sp>
      <p:sp>
        <p:nvSpPr>
          <p:cNvPr id="5" name="Text 3"/>
          <p:cNvSpPr/>
          <p:nvPr/>
        </p:nvSpPr>
        <p:spPr>
          <a:xfrm>
            <a:off x="640080" y="2788920"/>
            <a:ext cx="10972800" cy="640080"/>
          </a:xfrm>
          <a:prstGeom prst="rect">
            <a:avLst/>
          </a:prstGeom>
          <a:noFill/>
          <a:ln/>
        </p:spPr>
        <p:txBody>
          <a:bodyPr wrap="square" lIns="0" tIns="0" rIns="0" bIns="0" rtlCol="0" anchor="ctr"/>
          <a:lstStyle/>
          <a:p>
            <a:pPr indent="0" marL="0">
              <a:buNone/>
            </a:pPr>
            <a:r>
              <a:rPr lang="en-US" sz="2200" i="1" dirty="0">
                <a:solidFill>
                  <a:srgbClr val="CADCFC"/>
                </a:solidFill>
                <a:latin typeface="Calibri" pitchFamily="34" charset="0"/>
                <a:ea typeface="Calibri" pitchFamily="34" charset="-122"/>
                <a:cs typeface="Calibri" pitchFamily="34" charset="-120"/>
              </a:rPr>
              <a:t>Testing Dropout Rescue in Cooperative MARL</a:t>
            </a:r>
            <a:endParaRPr lang="en-US" sz="2200" dirty="0"/>
          </a:p>
        </p:txBody>
      </p:sp>
      <p:sp>
        <p:nvSpPr>
          <p:cNvPr id="6" name="Shape 4"/>
          <p:cNvSpPr/>
          <p:nvPr/>
        </p:nvSpPr>
        <p:spPr>
          <a:xfrm>
            <a:off x="658368" y="3520440"/>
            <a:ext cx="1005840" cy="54864"/>
          </a:xfrm>
          <a:prstGeom prst="rect">
            <a:avLst/>
          </a:prstGeom>
          <a:solidFill>
            <a:srgbClr val="E8A33D"/>
          </a:solidFill>
          <a:ln/>
        </p:spPr>
      </p:sp>
      <p:sp>
        <p:nvSpPr>
          <p:cNvPr id="7" name="Text 5"/>
          <p:cNvSpPr/>
          <p:nvPr/>
        </p:nvSpPr>
        <p:spPr>
          <a:xfrm>
            <a:off x="658368" y="3749040"/>
            <a:ext cx="5212080" cy="1188720"/>
          </a:xfrm>
          <a:prstGeom prst="rect">
            <a:avLst/>
          </a:prstGeom>
          <a:noFill/>
          <a:ln/>
        </p:spPr>
        <p:txBody>
          <a:bodyPr wrap="square" lIns="0" tIns="0" rIns="0" bIns="0" rtlCol="0" anchor="t"/>
          <a:lstStyle/>
          <a:p>
            <a:pPr indent="0" marL="0">
              <a:buNone/>
            </a:pPr>
            <a:r>
              <a:rPr lang="en-US" sz="1300" b="1" dirty="0">
                <a:solidFill>
                  <a:srgbClr val="E8A33D"/>
                </a:solidFill>
                <a:latin typeface="Calibri" pitchFamily="34" charset="0"/>
                <a:ea typeface="Calibri" pitchFamily="34" charset="-122"/>
                <a:cs typeface="Calibri" pitchFamily="34" charset="-120"/>
              </a:rPr>
              <a:t>What we study</a:t>
            </a:r>
            <a:endParaRPr lang="en-US" sz="1300" dirty="0"/>
          </a:p>
          <a:p>
            <a:pPr indent="0" marL="0">
              <a:buNone/>
            </a:pPr>
            <a:r>
              <a:rPr lang="en-US" sz="1400" dirty="0">
                <a:solidFill>
                  <a:srgbClr val="FFFFFF"/>
                </a:solidFill>
                <a:latin typeface="Calibri" pitchFamily="34" charset="0"/>
                <a:ea typeface="Calibri" pitchFamily="34" charset="-122"/>
                <a:cs typeface="Calibri" pitchFamily="34" charset="-120"/>
              </a:rPr>
              <a:t>Not “does communication help?” — instead, a targeted system failure: ambiguous teammate liveness under heartbeat delay and silent dropout.</a:t>
            </a:r>
            <a:endParaRPr lang="en-US" sz="1300" dirty="0"/>
          </a:p>
        </p:txBody>
      </p:sp>
      <p:sp>
        <p:nvSpPr>
          <p:cNvPr id="8" name="Text 6"/>
          <p:cNvSpPr/>
          <p:nvPr/>
        </p:nvSpPr>
        <p:spPr>
          <a:xfrm>
            <a:off x="6126480" y="3749040"/>
            <a:ext cx="5394960" cy="1188720"/>
          </a:xfrm>
          <a:prstGeom prst="rect">
            <a:avLst/>
          </a:prstGeom>
          <a:noFill/>
          <a:ln/>
        </p:spPr>
        <p:txBody>
          <a:bodyPr wrap="square" lIns="0" tIns="0" rIns="0" bIns="0" rtlCol="0" anchor="t"/>
          <a:lstStyle/>
          <a:p>
            <a:pPr indent="0" marL="0">
              <a:buNone/>
            </a:pPr>
            <a:r>
              <a:rPr lang="en-US" sz="1300" b="1" dirty="0">
                <a:solidFill>
                  <a:srgbClr val="E8A33D"/>
                </a:solidFill>
                <a:latin typeface="Calibri" pitchFamily="34" charset="0"/>
                <a:ea typeface="Calibri" pitchFamily="34" charset="-122"/>
                <a:cs typeface="Calibri" pitchFamily="34" charset="-120"/>
              </a:rPr>
              <a:t>Headline target</a:t>
            </a:r>
            <a:endParaRPr lang="en-US" sz="1300" dirty="0"/>
          </a:p>
          <a:p>
            <a:pPr indent="0" marL="0">
              <a:buNone/>
            </a:pPr>
            <a:r>
              <a:rPr lang="en-US" sz="1400" dirty="0">
                <a:solidFill>
                  <a:srgbClr val="FFFFFF"/>
                </a:solidFill>
                <a:latin typeface="Calibri" pitchFamily="34" charset="0"/>
                <a:ea typeface="Calibri" pitchFamily="34" charset="-122"/>
                <a:cs typeface="Calibri" pitchFamily="34" charset="-120"/>
              </a:rPr>
              <a:t>A dropout-rescue interaction — comm benefit under delay-dropout minus comm benefit under delay-only — not a single-cell lift.</a:t>
            </a:r>
            <a:endParaRPr lang="en-US" sz="1300" dirty="0"/>
          </a:p>
        </p:txBody>
      </p:sp>
      <p:sp>
        <p:nvSpPr>
          <p:cNvPr id="9" name="Text 7"/>
          <p:cNvSpPr/>
          <p:nvPr/>
        </p:nvSpPr>
        <p:spPr>
          <a:xfrm>
            <a:off x="640080" y="5120640"/>
            <a:ext cx="10972800" cy="11887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Sam Chen</a:t>
            </a:r>
            <a:endParaRPr lang="en-US" sz="1400" dirty="0"/>
          </a:p>
          <a:p>
            <a:pPr indent="0" marL="0">
              <a:buNone/>
            </a:pPr>
            <a:r>
              <a:rPr lang="en-US" sz="1200" dirty="0">
                <a:solidFill>
                  <a:srgbClr val="CADCFC"/>
                </a:solidFill>
                <a:latin typeface="Calibri" pitchFamily="34" charset="0"/>
                <a:ea typeface="Calibri" pitchFamily="34" charset="-122"/>
                <a:cs typeface="Calibri" pitchFamily="34" charset="-120"/>
              </a:rPr>
              <a:t>CS 2860 · Cooperative MARL Research Project</a:t>
            </a:r>
            <a:endParaRPr lang="en-US" sz="1400" dirty="0"/>
          </a:p>
          <a:p>
            <a:pPr indent="0" marL="0">
              <a:buNone/>
            </a:pPr>
            <a:r>
              <a:rPr lang="en-US" sz="1200" i="1" dirty="0">
                <a:solidFill>
                  <a:srgbClr val="CADCFC"/>
                </a:solidFill>
                <a:latin typeface="Calibri" pitchFamily="34" charset="0"/>
                <a:ea typeface="Calibri" pitchFamily="34" charset="-122"/>
                <a:cs typeface="Calibri" pitchFamily="34" charset="-120"/>
              </a:rPr>
              <a:t>April 2026</a:t>
            </a:r>
            <a:endParaRPr lang="en-US" sz="1400" dirty="0"/>
          </a:p>
        </p:txBody>
      </p:sp>
      <p:sp>
        <p:nvSpPr>
          <p:cNvPr id="10" name="Text 8"/>
          <p:cNvSpPr/>
          <p:nvPr/>
        </p:nvSpPr>
        <p:spPr>
          <a:xfrm>
            <a:off x="11094415" y="6492240"/>
            <a:ext cx="822960" cy="22860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 / 13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E2761"/>
          </a:solidFill>
          <a:ln/>
        </p:spPr>
      </p:sp>
      <p:sp>
        <p:nvSpPr>
          <p:cNvPr id="3" name="Text 1"/>
          <p:cNvSpPr/>
          <p:nvPr/>
        </p:nvSpPr>
        <p:spPr>
          <a:xfrm>
            <a:off x="411480" y="6537960"/>
            <a:ext cx="7772400" cy="228600"/>
          </a:xfrm>
          <a:prstGeom prst="rect">
            <a:avLst/>
          </a:prstGeom>
          <a:noFill/>
          <a:ln/>
        </p:spPr>
        <p:txBody>
          <a:bodyPr wrap="square" lIns="0" tIns="0" rIns="0" bIns="0" rtlCol="0" anchor="ctr"/>
          <a:lstStyle/>
          <a:p>
            <a:pPr indent="0" marL="0">
              <a:buNone/>
            </a:pPr>
            <a:r>
              <a:rPr lang="en-US" sz="900" dirty="0">
                <a:solidFill>
                  <a:srgbClr val="5C6F94"/>
                </a:solidFill>
                <a:latin typeface="Calibri" pitchFamily="34" charset="0"/>
                <a:ea typeface="Calibri" pitchFamily="34" charset="-122"/>
                <a:cs typeface="Calibri" pitchFamily="34" charset="-120"/>
              </a:rPr>
              <a:t>Communication Under Delayed Liveness</a:t>
            </a:r>
            <a:pPr indent="0" marL="0">
              <a:buNone/>
            </a:pPr>
            <a:r>
              <a:rPr lang="en-US" sz="900" dirty="0">
                <a:solidFill>
                  <a:srgbClr val="B9C4DA"/>
                </a:solidFill>
                <a:latin typeface="Calibri" pitchFamily="34" charset="0"/>
                <a:ea typeface="Calibri" pitchFamily="34" charset="-122"/>
                <a:cs typeface="Calibri" pitchFamily="34" charset="-120"/>
              </a:rPr>
              <a:t>   |   </a:t>
            </a:r>
            <a:pPr indent="0" marL="0">
              <a:buNone/>
            </a:pPr>
            <a:r>
              <a:rPr lang="en-US" sz="900" i="1" dirty="0">
                <a:solidFill>
                  <a:srgbClr val="5C6F94"/>
                </a:solidFill>
                <a:latin typeface="Calibri" pitchFamily="34" charset="0"/>
                <a:ea typeface="Calibri" pitchFamily="34" charset="-122"/>
                <a:cs typeface="Calibri" pitchFamily="34" charset="-120"/>
              </a:rPr>
              <a:t>Cooperative MARL · RWARE</a:t>
            </a:r>
            <a:endParaRPr lang="en-US" sz="900" dirty="0"/>
          </a:p>
        </p:txBody>
      </p:sp>
      <p:sp>
        <p:nvSpPr>
          <p:cNvPr id="4" name="Text 2"/>
          <p:cNvSpPr/>
          <p:nvPr/>
        </p:nvSpPr>
        <p:spPr>
          <a:xfrm>
            <a:off x="11094415" y="6537960"/>
            <a:ext cx="822960" cy="228600"/>
          </a:xfrm>
          <a:prstGeom prst="rect">
            <a:avLst/>
          </a:prstGeom>
          <a:noFill/>
          <a:ln/>
        </p:spPr>
        <p:txBody>
          <a:bodyPr wrap="square" lIns="0" tIns="0" rIns="0" bIns="0" rtlCol="0" anchor="ctr"/>
          <a:lstStyle/>
          <a:p>
            <a:pPr algn="r" indent="0" marL="0">
              <a:buNone/>
            </a:pPr>
            <a:r>
              <a:rPr lang="en-US" sz="900" dirty="0">
                <a:solidFill>
                  <a:srgbClr val="5C6F94"/>
                </a:solidFill>
                <a:latin typeface="Calibri" pitchFamily="34" charset="0"/>
                <a:ea typeface="Calibri" pitchFamily="34" charset="-122"/>
                <a:cs typeface="Calibri" pitchFamily="34" charset="-120"/>
              </a:rPr>
              <a:t>2 / 13</a:t>
            </a:r>
            <a:endParaRPr lang="en-US" sz="900" dirty="0"/>
          </a:p>
        </p:txBody>
      </p:sp>
      <p:sp>
        <p:nvSpPr>
          <p:cNvPr id="5" name="Text 3"/>
          <p:cNvSpPr/>
          <p:nvPr/>
        </p:nvSpPr>
        <p:spPr>
          <a:xfrm>
            <a:off x="502920" y="292608"/>
            <a:ext cx="10972800" cy="292608"/>
          </a:xfrm>
          <a:prstGeom prst="rect">
            <a:avLst/>
          </a:prstGeom>
          <a:noFill/>
          <a:ln/>
        </p:spPr>
        <p:txBody>
          <a:bodyPr wrap="square" lIns="0" tIns="0" rIns="0" bIns="0" rtlCol="0" anchor="ctr"/>
          <a:lstStyle/>
          <a:p>
            <a:pPr indent="0" marL="0">
              <a:buNone/>
            </a:pPr>
            <a:r>
              <a:rPr lang="en-US" sz="1100" b="1" spc="400" kern="0" dirty="0">
                <a:solidFill>
                  <a:srgbClr val="E8A33D"/>
                </a:solidFill>
                <a:latin typeface="Calibri" pitchFamily="34" charset="0"/>
                <a:ea typeface="Calibri" pitchFamily="34" charset="-122"/>
                <a:cs typeface="Calibri" pitchFamily="34" charset="-120"/>
              </a:rPr>
              <a:t>MOTIVATION</a:t>
            </a:r>
            <a:endParaRPr lang="en-US" sz="1100" dirty="0"/>
          </a:p>
        </p:txBody>
      </p:sp>
      <p:sp>
        <p:nvSpPr>
          <p:cNvPr id="6" name="Text 4"/>
          <p:cNvSpPr/>
          <p:nvPr/>
        </p:nvSpPr>
        <p:spPr>
          <a:xfrm>
            <a:off x="502920" y="566928"/>
            <a:ext cx="11338560" cy="868680"/>
          </a:xfrm>
          <a:prstGeom prst="rect">
            <a:avLst/>
          </a:prstGeom>
          <a:noFill/>
          <a:ln/>
        </p:spPr>
        <p:txBody>
          <a:bodyPr wrap="square" lIns="0" tIns="0" rIns="0" bIns="0" rtlCol="0" anchor="t"/>
          <a:lstStyle/>
          <a:p>
            <a:pPr indent="0" marL="0">
              <a:buNone/>
            </a:pPr>
            <a:r>
              <a:rPr lang="en-US" sz="2800" b="1" dirty="0">
                <a:solidFill>
                  <a:srgbClr val="1E2761"/>
                </a:solidFill>
                <a:latin typeface="Calibri" pitchFamily="34" charset="0"/>
                <a:ea typeface="Calibri" pitchFamily="34" charset="-122"/>
                <a:cs typeface="Calibri" pitchFamily="34" charset="-120"/>
              </a:rPr>
              <a:t>Distributed-systems liveness, in cooperative MARL teams</a:t>
            </a:r>
            <a:endParaRPr lang="en-US" sz="2800" dirty="0"/>
          </a:p>
        </p:txBody>
      </p:sp>
      <p:sp>
        <p:nvSpPr>
          <p:cNvPr id="7" name="Text 5"/>
          <p:cNvSpPr/>
          <p:nvPr/>
        </p:nvSpPr>
        <p:spPr>
          <a:xfrm>
            <a:off x="502920" y="1554480"/>
            <a:ext cx="5212080" cy="3017520"/>
          </a:xfrm>
          <a:prstGeom prst="rect">
            <a:avLst/>
          </a:prstGeom>
          <a:noFill/>
          <a:ln/>
        </p:spPr>
        <p:txBody>
          <a:bodyPr wrap="square" lIns="50800" tIns="50800" rIns="50800" bIns="50800" rtlCol="0" anchor="t"/>
          <a:lstStyle/>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Missing heartbeats are ambiguous: slow vs dead.</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Team must choose: reallocate, wait, or keep coordinating — and mistakes are costly.</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RWARE = sparse reward, local observation; we layer realistic failure dynamics on top.</a:t>
            </a:r>
            <a:endParaRPr lang="en-US" sz="1500" dirty="0"/>
          </a:p>
        </p:txBody>
      </p:sp>
      <p:sp>
        <p:nvSpPr>
          <p:cNvPr id="8" name="Shape 6"/>
          <p:cNvSpPr/>
          <p:nvPr/>
        </p:nvSpPr>
        <p:spPr>
          <a:xfrm>
            <a:off x="6126480" y="1508760"/>
            <a:ext cx="5669280" cy="1143000"/>
          </a:xfrm>
          <a:prstGeom prst="rect">
            <a:avLst/>
          </a:prstGeom>
          <a:solidFill>
            <a:srgbClr val="F4F6FB"/>
          </a:solidFill>
          <a:ln w="9525">
            <a:solidFill>
              <a:srgbClr val="CADCFC"/>
            </a:solidFill>
            <a:prstDash val="solid"/>
          </a:ln>
        </p:spPr>
      </p:sp>
      <p:sp>
        <p:nvSpPr>
          <p:cNvPr id="9" name="Shape 7"/>
          <p:cNvSpPr/>
          <p:nvPr/>
        </p:nvSpPr>
        <p:spPr>
          <a:xfrm>
            <a:off x="6291072" y="1755648"/>
            <a:ext cx="640080" cy="640080"/>
          </a:xfrm>
          <a:prstGeom prst="ellipse">
            <a:avLst/>
          </a:prstGeom>
          <a:solidFill>
            <a:srgbClr val="1F4E7A"/>
          </a:solidFill>
          <a:ln/>
        </p:spPr>
      </p:sp>
      <p:sp>
        <p:nvSpPr>
          <p:cNvPr id="10" name="Text 8"/>
          <p:cNvSpPr/>
          <p:nvPr/>
        </p:nvSpPr>
        <p:spPr>
          <a:xfrm>
            <a:off x="6291072" y="17556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9"/>
          <p:cNvSpPr/>
          <p:nvPr/>
        </p:nvSpPr>
        <p:spPr>
          <a:xfrm>
            <a:off x="7086600" y="1618488"/>
            <a:ext cx="4572000" cy="923544"/>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Alive but delayed</a:t>
            </a:r>
            <a:endParaRPr lang="en-US" sz="1400" dirty="0"/>
          </a:p>
          <a:p>
            <a:pPr indent="0" marL="0">
              <a:buNone/>
            </a:pPr>
            <a:r>
              <a:rPr lang="en-US" sz="1200" dirty="0">
                <a:solidFill>
                  <a:srgbClr val="1A1A1A"/>
                </a:solidFill>
                <a:latin typeface="Calibri" pitchFamily="34" charset="0"/>
                <a:ea typeface="Calibri" pitchFamily="34" charset="-122"/>
                <a:cs typeface="Calibri" pitchFamily="34" charset="-120"/>
              </a:rPr>
              <a:t>Heartbeats lag by D steps. Observations look stale; the teammate is still working.</a:t>
            </a:r>
            <a:endParaRPr lang="en-US" sz="1400" dirty="0"/>
          </a:p>
        </p:txBody>
      </p:sp>
      <p:sp>
        <p:nvSpPr>
          <p:cNvPr id="12" name="Shape 10"/>
          <p:cNvSpPr/>
          <p:nvPr/>
        </p:nvSpPr>
        <p:spPr>
          <a:xfrm>
            <a:off x="6126480" y="2816352"/>
            <a:ext cx="5669280" cy="1143000"/>
          </a:xfrm>
          <a:prstGeom prst="rect">
            <a:avLst/>
          </a:prstGeom>
          <a:solidFill>
            <a:srgbClr val="F4F6FB"/>
          </a:solidFill>
          <a:ln w="9525">
            <a:solidFill>
              <a:srgbClr val="CADCFC"/>
            </a:solidFill>
            <a:prstDash val="solid"/>
          </a:ln>
        </p:spPr>
      </p:sp>
      <p:sp>
        <p:nvSpPr>
          <p:cNvPr id="13" name="Shape 11"/>
          <p:cNvSpPr/>
          <p:nvPr/>
        </p:nvSpPr>
        <p:spPr>
          <a:xfrm>
            <a:off x="6291072" y="3063240"/>
            <a:ext cx="640080" cy="640080"/>
          </a:xfrm>
          <a:prstGeom prst="ellipse">
            <a:avLst/>
          </a:prstGeom>
          <a:solidFill>
            <a:srgbClr val="E8A33D"/>
          </a:solidFill>
          <a:ln/>
        </p:spPr>
      </p:sp>
      <p:sp>
        <p:nvSpPr>
          <p:cNvPr id="14" name="Text 12"/>
          <p:cNvSpPr/>
          <p:nvPr/>
        </p:nvSpPr>
        <p:spPr>
          <a:xfrm>
            <a:off x="6291072" y="306324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7086600" y="2926080"/>
            <a:ext cx="4572000" cy="923544"/>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Ambiguity window</a:t>
            </a:r>
            <a:endParaRPr lang="en-US" sz="1400" dirty="0"/>
          </a:p>
          <a:p>
            <a:pPr indent="0" marL="0">
              <a:buNone/>
            </a:pPr>
            <a:r>
              <a:rPr lang="en-US" sz="1200" dirty="0">
                <a:solidFill>
                  <a:srgbClr val="1A1A1A"/>
                </a:solidFill>
                <a:latin typeface="Calibri" pitchFamily="34" charset="0"/>
                <a:ea typeface="Calibri" pitchFamily="34" charset="-122"/>
                <a:cs typeface="Calibri" pitchFamily="34" charset="-120"/>
              </a:rPr>
              <a:t>Dropout occurs, but in-flight heartbeats keep arriving. Receiver can mistake dead for delayed.</a:t>
            </a:r>
            <a:endParaRPr lang="en-US" sz="1400" dirty="0"/>
          </a:p>
        </p:txBody>
      </p:sp>
      <p:sp>
        <p:nvSpPr>
          <p:cNvPr id="16" name="Shape 14"/>
          <p:cNvSpPr/>
          <p:nvPr/>
        </p:nvSpPr>
        <p:spPr>
          <a:xfrm>
            <a:off x="6126480" y="4123944"/>
            <a:ext cx="5669280" cy="1143000"/>
          </a:xfrm>
          <a:prstGeom prst="rect">
            <a:avLst/>
          </a:prstGeom>
          <a:solidFill>
            <a:srgbClr val="F4F6FB"/>
          </a:solidFill>
          <a:ln w="9525">
            <a:solidFill>
              <a:srgbClr val="CADCFC"/>
            </a:solidFill>
            <a:prstDash val="solid"/>
          </a:ln>
        </p:spPr>
      </p:sp>
      <p:sp>
        <p:nvSpPr>
          <p:cNvPr id="17" name="Shape 15"/>
          <p:cNvSpPr/>
          <p:nvPr/>
        </p:nvSpPr>
        <p:spPr>
          <a:xfrm>
            <a:off x="6291072" y="4370832"/>
            <a:ext cx="640080" cy="640080"/>
          </a:xfrm>
          <a:prstGeom prst="ellipse">
            <a:avLst/>
          </a:prstGeom>
          <a:solidFill>
            <a:srgbClr val="8E1C1C"/>
          </a:solidFill>
          <a:ln/>
        </p:spPr>
      </p:sp>
      <p:sp>
        <p:nvSpPr>
          <p:cNvPr id="18" name="Text 16"/>
          <p:cNvSpPr/>
          <p:nvPr/>
        </p:nvSpPr>
        <p:spPr>
          <a:xfrm>
            <a:off x="6291072" y="437083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7086600" y="4233672"/>
            <a:ext cx="4572000" cy="923544"/>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True dropout</a:t>
            </a:r>
            <a:endParaRPr lang="en-US" sz="1400" dirty="0"/>
          </a:p>
          <a:p>
            <a:pPr indent="0" marL="0">
              <a:buNone/>
            </a:pPr>
            <a:r>
              <a:rPr lang="en-US" sz="1200" dirty="0">
                <a:solidFill>
                  <a:srgbClr val="1A1A1A"/>
                </a:solidFill>
                <a:latin typeface="Calibri" pitchFamily="34" charset="0"/>
                <a:ea typeface="Calibri" pitchFamily="34" charset="-122"/>
                <a:cs typeface="Calibri" pitchFamily="34" charset="-120"/>
              </a:rPr>
              <a:t>Heartbeats stop. Teammate has stopped contributing for the rest of the episode.</a:t>
            </a:r>
            <a:endParaRPr lang="en-US" sz="1400" dirty="0"/>
          </a:p>
        </p:txBody>
      </p:sp>
      <p:sp>
        <p:nvSpPr>
          <p:cNvPr id="20" name="Shape 18"/>
          <p:cNvSpPr/>
          <p:nvPr/>
        </p:nvSpPr>
        <p:spPr>
          <a:xfrm>
            <a:off x="502920" y="5943600"/>
            <a:ext cx="11185855" cy="502920"/>
          </a:xfrm>
          <a:prstGeom prst="rect">
            <a:avLst/>
          </a:prstGeom>
          <a:solidFill>
            <a:srgbClr val="F4F6FB"/>
          </a:solidFill>
          <a:ln w="9525">
            <a:solidFill>
              <a:srgbClr val="CADCFC"/>
            </a:solidFill>
            <a:prstDash val="solid"/>
          </a:ln>
        </p:spPr>
      </p:sp>
      <p:sp>
        <p:nvSpPr>
          <p:cNvPr id="21" name="Shape 19"/>
          <p:cNvSpPr/>
          <p:nvPr/>
        </p:nvSpPr>
        <p:spPr>
          <a:xfrm>
            <a:off x="502920" y="5943600"/>
            <a:ext cx="73152" cy="502920"/>
          </a:xfrm>
          <a:prstGeom prst="rect">
            <a:avLst/>
          </a:prstGeom>
          <a:solidFill>
            <a:srgbClr val="E8A33D"/>
          </a:solidFill>
          <a:ln/>
        </p:spPr>
      </p:sp>
      <p:sp>
        <p:nvSpPr>
          <p:cNvPr id="22" name="Text 20"/>
          <p:cNvSpPr/>
          <p:nvPr/>
        </p:nvSpPr>
        <p:spPr>
          <a:xfrm>
            <a:off x="713232" y="5943600"/>
            <a:ext cx="10911535" cy="5029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Speaker note: </a:t>
            </a:r>
            <a:pPr indent="0" marL="0">
              <a:buNone/>
            </a:pPr>
            <a:r>
              <a:rPr lang="en-US" sz="1100" i="1" dirty="0">
                <a:solidFill>
                  <a:srgbClr val="1A1A1A"/>
                </a:solidFill>
                <a:latin typeface="Calibri" pitchFamily="34" charset="0"/>
                <a:ea typeface="Calibri" pitchFamily="34" charset="-122"/>
                <a:cs typeface="Calibri" pitchFamily="34" charset="-120"/>
              </a:rPr>
              <a:t>We frame communication as a robustness tool for failure-aware coordination, not a generic coordination boost.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E2761"/>
          </a:solidFill>
          <a:ln/>
        </p:spPr>
      </p:sp>
      <p:sp>
        <p:nvSpPr>
          <p:cNvPr id="3" name="Text 1"/>
          <p:cNvSpPr/>
          <p:nvPr/>
        </p:nvSpPr>
        <p:spPr>
          <a:xfrm>
            <a:off x="411480" y="6537960"/>
            <a:ext cx="7772400" cy="228600"/>
          </a:xfrm>
          <a:prstGeom prst="rect">
            <a:avLst/>
          </a:prstGeom>
          <a:noFill/>
          <a:ln/>
        </p:spPr>
        <p:txBody>
          <a:bodyPr wrap="square" lIns="0" tIns="0" rIns="0" bIns="0" rtlCol="0" anchor="ctr"/>
          <a:lstStyle/>
          <a:p>
            <a:pPr indent="0" marL="0">
              <a:buNone/>
            </a:pPr>
            <a:r>
              <a:rPr lang="en-US" sz="900" dirty="0">
                <a:solidFill>
                  <a:srgbClr val="5C6F94"/>
                </a:solidFill>
                <a:latin typeface="Calibri" pitchFamily="34" charset="0"/>
                <a:ea typeface="Calibri" pitchFamily="34" charset="-122"/>
                <a:cs typeface="Calibri" pitchFamily="34" charset="-120"/>
              </a:rPr>
              <a:t>Communication Under Delayed Liveness</a:t>
            </a:r>
            <a:pPr indent="0" marL="0">
              <a:buNone/>
            </a:pPr>
            <a:r>
              <a:rPr lang="en-US" sz="900" dirty="0">
                <a:solidFill>
                  <a:srgbClr val="B9C4DA"/>
                </a:solidFill>
                <a:latin typeface="Calibri" pitchFamily="34" charset="0"/>
                <a:ea typeface="Calibri" pitchFamily="34" charset="-122"/>
                <a:cs typeface="Calibri" pitchFamily="34" charset="-120"/>
              </a:rPr>
              <a:t>   |   </a:t>
            </a:r>
            <a:pPr indent="0" marL="0">
              <a:buNone/>
            </a:pPr>
            <a:r>
              <a:rPr lang="en-US" sz="900" i="1" dirty="0">
                <a:solidFill>
                  <a:srgbClr val="5C6F94"/>
                </a:solidFill>
                <a:latin typeface="Calibri" pitchFamily="34" charset="0"/>
                <a:ea typeface="Calibri" pitchFamily="34" charset="-122"/>
                <a:cs typeface="Calibri" pitchFamily="34" charset="-120"/>
              </a:rPr>
              <a:t>Cooperative MARL · RWARE</a:t>
            </a:r>
            <a:endParaRPr lang="en-US" sz="900" dirty="0"/>
          </a:p>
        </p:txBody>
      </p:sp>
      <p:sp>
        <p:nvSpPr>
          <p:cNvPr id="4" name="Text 2"/>
          <p:cNvSpPr/>
          <p:nvPr/>
        </p:nvSpPr>
        <p:spPr>
          <a:xfrm>
            <a:off x="11094415" y="6537960"/>
            <a:ext cx="822960" cy="228600"/>
          </a:xfrm>
          <a:prstGeom prst="rect">
            <a:avLst/>
          </a:prstGeom>
          <a:noFill/>
          <a:ln/>
        </p:spPr>
        <p:txBody>
          <a:bodyPr wrap="square" lIns="0" tIns="0" rIns="0" bIns="0" rtlCol="0" anchor="ctr"/>
          <a:lstStyle/>
          <a:p>
            <a:pPr algn="r" indent="0" marL="0">
              <a:buNone/>
            </a:pPr>
            <a:r>
              <a:rPr lang="en-US" sz="900" dirty="0">
                <a:solidFill>
                  <a:srgbClr val="5C6F94"/>
                </a:solidFill>
                <a:latin typeface="Calibri" pitchFamily="34" charset="0"/>
                <a:ea typeface="Calibri" pitchFamily="34" charset="-122"/>
                <a:cs typeface="Calibri" pitchFamily="34" charset="-120"/>
              </a:rPr>
              <a:t>3 / 13</a:t>
            </a:r>
            <a:endParaRPr lang="en-US" sz="900" dirty="0"/>
          </a:p>
        </p:txBody>
      </p:sp>
      <p:sp>
        <p:nvSpPr>
          <p:cNvPr id="5" name="Text 3"/>
          <p:cNvSpPr/>
          <p:nvPr/>
        </p:nvSpPr>
        <p:spPr>
          <a:xfrm>
            <a:off x="502920" y="292608"/>
            <a:ext cx="10972800" cy="292608"/>
          </a:xfrm>
          <a:prstGeom prst="rect">
            <a:avLst/>
          </a:prstGeom>
          <a:noFill/>
          <a:ln/>
        </p:spPr>
        <p:txBody>
          <a:bodyPr wrap="square" lIns="0" tIns="0" rIns="0" bIns="0" rtlCol="0" anchor="ctr"/>
          <a:lstStyle/>
          <a:p>
            <a:pPr indent="0" marL="0">
              <a:buNone/>
            </a:pPr>
            <a:r>
              <a:rPr lang="en-US" sz="1100" b="1" spc="400" kern="0" dirty="0">
                <a:solidFill>
                  <a:srgbClr val="E8A33D"/>
                </a:solidFill>
                <a:latin typeface="Calibri" pitchFamily="34" charset="0"/>
                <a:ea typeface="Calibri" pitchFamily="34" charset="-122"/>
                <a:cs typeface="Calibri" pitchFamily="34" charset="-120"/>
              </a:rPr>
              <a:t>EXPERIMENTAL CONTRACT</a:t>
            </a:r>
            <a:endParaRPr lang="en-US" sz="1100" dirty="0"/>
          </a:p>
        </p:txBody>
      </p:sp>
      <p:sp>
        <p:nvSpPr>
          <p:cNvPr id="6" name="Text 4"/>
          <p:cNvSpPr/>
          <p:nvPr/>
        </p:nvSpPr>
        <p:spPr>
          <a:xfrm>
            <a:off x="502920" y="566928"/>
            <a:ext cx="11338560" cy="868680"/>
          </a:xfrm>
          <a:prstGeom prst="rect">
            <a:avLst/>
          </a:prstGeom>
          <a:noFill/>
          <a:ln/>
        </p:spPr>
        <p:txBody>
          <a:bodyPr wrap="square" lIns="0" tIns="0" rIns="0" bIns="0" rtlCol="0" anchor="t"/>
          <a:lstStyle/>
          <a:p>
            <a:pPr indent="0" marL="0">
              <a:buNone/>
            </a:pPr>
            <a:r>
              <a:rPr lang="en-US" sz="2800" b="1" dirty="0">
                <a:solidFill>
                  <a:srgbClr val="1E2761"/>
                </a:solidFill>
                <a:latin typeface="Calibri" pitchFamily="34" charset="0"/>
                <a:ea typeface="Calibri" pitchFamily="34" charset="-122"/>
                <a:cs typeface="Calibri" pitchFamily="34" charset="-120"/>
              </a:rPr>
              <a:t>What we changed (mechanism) — what we held constant (fairness)</a:t>
            </a:r>
            <a:endParaRPr lang="en-US" sz="2800" dirty="0"/>
          </a:p>
        </p:txBody>
      </p:sp>
      <p:sp>
        <p:nvSpPr>
          <p:cNvPr id="7" name="Shape 5"/>
          <p:cNvSpPr/>
          <p:nvPr/>
        </p:nvSpPr>
        <p:spPr>
          <a:xfrm>
            <a:off x="502920" y="1508760"/>
            <a:ext cx="5577840" cy="4297680"/>
          </a:xfrm>
          <a:prstGeom prst="rect">
            <a:avLst/>
          </a:prstGeom>
          <a:solidFill>
            <a:srgbClr val="F4F6FB"/>
          </a:solidFill>
          <a:ln w="9525">
            <a:solidFill>
              <a:srgbClr val="CADCFC"/>
            </a:solidFill>
            <a:prstDash val="solid"/>
          </a:ln>
        </p:spPr>
      </p:sp>
      <p:sp>
        <p:nvSpPr>
          <p:cNvPr id="8" name="Shape 6"/>
          <p:cNvSpPr/>
          <p:nvPr/>
        </p:nvSpPr>
        <p:spPr>
          <a:xfrm>
            <a:off x="502920" y="1508760"/>
            <a:ext cx="73152" cy="4297680"/>
          </a:xfrm>
          <a:prstGeom prst="rect">
            <a:avLst/>
          </a:prstGeom>
          <a:solidFill>
            <a:srgbClr val="E8A33D"/>
          </a:solidFill>
          <a:ln/>
        </p:spPr>
      </p:sp>
      <p:sp>
        <p:nvSpPr>
          <p:cNvPr id="9" name="Text 7"/>
          <p:cNvSpPr/>
          <p:nvPr/>
        </p:nvSpPr>
        <p:spPr>
          <a:xfrm>
            <a:off x="713232" y="1600200"/>
            <a:ext cx="521208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Mechanism knobs (what we vary)</a:t>
            </a:r>
            <a:endParaRPr lang="en-US" sz="1400" dirty="0"/>
          </a:p>
        </p:txBody>
      </p:sp>
      <p:sp>
        <p:nvSpPr>
          <p:cNvPr id="10" name="Text 8"/>
          <p:cNvSpPr/>
          <p:nvPr/>
        </p:nvSpPr>
        <p:spPr>
          <a:xfrm>
            <a:off x="777240" y="2011680"/>
            <a:ext cx="5212080" cy="3657600"/>
          </a:xfrm>
          <a:prstGeom prst="rect">
            <a:avLst/>
          </a:prstGeom>
          <a:noFill/>
          <a:ln/>
        </p:spPr>
        <p:txBody>
          <a:bodyPr wrap="square" lIns="50800" tIns="50800" rIns="50800" bIns="50800" rtlCol="0" anchor="t"/>
          <a:lstStyle/>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Regime: delay-only vs delay-dropout (one teammate disappears mid-episode).</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Heartbeat delay D ∈ {0, 2, 5, 30} steps.</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Dropout window: steps 200–350 of the episode.</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Method: hb-only (heartbeat features) vs hb+comm (RIAL-style learned discrete messages).</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Diagnostic ceilings: oracle / death-token, oracle high-level (HRL).</a:t>
            </a:r>
            <a:endParaRPr lang="en-US" sz="1500" dirty="0"/>
          </a:p>
        </p:txBody>
      </p:sp>
      <p:sp>
        <p:nvSpPr>
          <p:cNvPr id="11" name="Shape 9"/>
          <p:cNvSpPr/>
          <p:nvPr/>
        </p:nvSpPr>
        <p:spPr>
          <a:xfrm>
            <a:off x="6263640" y="1508760"/>
            <a:ext cx="5577840" cy="4297680"/>
          </a:xfrm>
          <a:prstGeom prst="rect">
            <a:avLst/>
          </a:prstGeom>
          <a:solidFill>
            <a:srgbClr val="F4F6FB"/>
          </a:solidFill>
          <a:ln w="9525">
            <a:solidFill>
              <a:srgbClr val="CADCFC"/>
            </a:solidFill>
            <a:prstDash val="solid"/>
          </a:ln>
        </p:spPr>
      </p:sp>
      <p:sp>
        <p:nvSpPr>
          <p:cNvPr id="12" name="Shape 10"/>
          <p:cNvSpPr/>
          <p:nvPr/>
        </p:nvSpPr>
        <p:spPr>
          <a:xfrm>
            <a:off x="6263640" y="1508760"/>
            <a:ext cx="73152" cy="4297680"/>
          </a:xfrm>
          <a:prstGeom prst="rect">
            <a:avLst/>
          </a:prstGeom>
          <a:solidFill>
            <a:srgbClr val="1E2761"/>
          </a:solidFill>
          <a:ln/>
        </p:spPr>
      </p:sp>
      <p:sp>
        <p:nvSpPr>
          <p:cNvPr id="13" name="Text 11"/>
          <p:cNvSpPr/>
          <p:nvPr/>
        </p:nvSpPr>
        <p:spPr>
          <a:xfrm>
            <a:off x="6473952" y="1600200"/>
            <a:ext cx="521208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Held constant (fairness)</a:t>
            </a:r>
            <a:endParaRPr lang="en-US" sz="1400" dirty="0"/>
          </a:p>
        </p:txBody>
      </p:sp>
      <p:sp>
        <p:nvSpPr>
          <p:cNvPr id="14" name="Text 12"/>
          <p:cNvSpPr/>
          <p:nvPr/>
        </p:nvSpPr>
        <p:spPr>
          <a:xfrm>
            <a:off x="6537960" y="2011680"/>
            <a:ext cx="5212080" cy="3657600"/>
          </a:xfrm>
          <a:prstGeom prst="rect">
            <a:avLst/>
          </a:prstGeom>
          <a:noFill/>
          <a:ln/>
        </p:spPr>
        <p:txBody>
          <a:bodyPr wrap="square" lIns="50800" tIns="50800" rIns="50800" bIns="50800" rtlCol="0" anchor="t"/>
          <a:lstStyle/>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Same shaping (pickup_bonus = 0.5) and step penalty across cells.</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Same training budget (updates, rollout, eval schedule).</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Production eval: eval_every=25, eval_episodes=30.</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Pooled seeds across two labs (SAM + PK), n = 6 per cell.</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Critic / actor information split: critic sees alive flags, actor does not.</a:t>
            </a:r>
            <a:endParaRPr lang="en-US" sz="1500" dirty="0"/>
          </a:p>
        </p:txBody>
      </p:sp>
      <p:sp>
        <p:nvSpPr>
          <p:cNvPr id="15" name="Shape 13"/>
          <p:cNvSpPr/>
          <p:nvPr/>
        </p:nvSpPr>
        <p:spPr>
          <a:xfrm>
            <a:off x="502920" y="5943600"/>
            <a:ext cx="11185855" cy="502920"/>
          </a:xfrm>
          <a:prstGeom prst="rect">
            <a:avLst/>
          </a:prstGeom>
          <a:solidFill>
            <a:srgbClr val="F4F6FB"/>
          </a:solidFill>
          <a:ln w="9525">
            <a:solidFill>
              <a:srgbClr val="CADCFC"/>
            </a:solidFill>
            <a:prstDash val="solid"/>
          </a:ln>
        </p:spPr>
      </p:sp>
      <p:sp>
        <p:nvSpPr>
          <p:cNvPr id="16" name="Shape 14"/>
          <p:cNvSpPr/>
          <p:nvPr/>
        </p:nvSpPr>
        <p:spPr>
          <a:xfrm>
            <a:off x="502920" y="5943600"/>
            <a:ext cx="73152" cy="502920"/>
          </a:xfrm>
          <a:prstGeom prst="rect">
            <a:avLst/>
          </a:prstGeom>
          <a:solidFill>
            <a:srgbClr val="E8A33D"/>
          </a:solidFill>
          <a:ln/>
        </p:spPr>
      </p:sp>
      <p:sp>
        <p:nvSpPr>
          <p:cNvPr id="17" name="Text 15"/>
          <p:cNvSpPr/>
          <p:nvPr/>
        </p:nvSpPr>
        <p:spPr>
          <a:xfrm>
            <a:off x="713232" y="5943600"/>
            <a:ext cx="10911535" cy="5029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Speaker note: </a:t>
            </a:r>
            <a:pPr indent="0" marL="0">
              <a:buNone/>
            </a:pPr>
            <a:r>
              <a:rPr lang="en-US" sz="1100" i="1" dirty="0">
                <a:solidFill>
                  <a:srgbClr val="1A1A1A"/>
                </a:solidFill>
                <a:latin typeface="Calibri" pitchFamily="34" charset="0"/>
                <a:ea typeface="Calibri" pitchFamily="34" charset="-122"/>
                <a:cs typeface="Calibri" pitchFamily="34" charset="-120"/>
              </a:rPr>
              <a:t>The actor/critic info split is what makes the problem non-trivial: the receiver must infer liveness from observation, not read it.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E2761"/>
          </a:solidFill>
          <a:ln/>
        </p:spPr>
      </p:sp>
      <p:sp>
        <p:nvSpPr>
          <p:cNvPr id="3" name="Text 1"/>
          <p:cNvSpPr/>
          <p:nvPr/>
        </p:nvSpPr>
        <p:spPr>
          <a:xfrm>
            <a:off x="411480" y="6537960"/>
            <a:ext cx="7772400" cy="228600"/>
          </a:xfrm>
          <a:prstGeom prst="rect">
            <a:avLst/>
          </a:prstGeom>
          <a:noFill/>
          <a:ln/>
        </p:spPr>
        <p:txBody>
          <a:bodyPr wrap="square" lIns="0" tIns="0" rIns="0" bIns="0" rtlCol="0" anchor="ctr"/>
          <a:lstStyle/>
          <a:p>
            <a:pPr indent="0" marL="0">
              <a:buNone/>
            </a:pPr>
            <a:r>
              <a:rPr lang="en-US" sz="900" dirty="0">
                <a:solidFill>
                  <a:srgbClr val="5C6F94"/>
                </a:solidFill>
                <a:latin typeface="Calibri" pitchFamily="34" charset="0"/>
                <a:ea typeface="Calibri" pitchFamily="34" charset="-122"/>
                <a:cs typeface="Calibri" pitchFamily="34" charset="-120"/>
              </a:rPr>
              <a:t>Communication Under Delayed Liveness</a:t>
            </a:r>
            <a:pPr indent="0" marL="0">
              <a:buNone/>
            </a:pPr>
            <a:r>
              <a:rPr lang="en-US" sz="900" dirty="0">
                <a:solidFill>
                  <a:srgbClr val="B9C4DA"/>
                </a:solidFill>
                <a:latin typeface="Calibri" pitchFamily="34" charset="0"/>
                <a:ea typeface="Calibri" pitchFamily="34" charset="-122"/>
                <a:cs typeface="Calibri" pitchFamily="34" charset="-120"/>
              </a:rPr>
              <a:t>   |   </a:t>
            </a:r>
            <a:pPr indent="0" marL="0">
              <a:buNone/>
            </a:pPr>
            <a:r>
              <a:rPr lang="en-US" sz="900" i="1" dirty="0">
                <a:solidFill>
                  <a:srgbClr val="5C6F94"/>
                </a:solidFill>
                <a:latin typeface="Calibri" pitchFamily="34" charset="0"/>
                <a:ea typeface="Calibri" pitchFamily="34" charset="-122"/>
                <a:cs typeface="Calibri" pitchFamily="34" charset="-120"/>
              </a:rPr>
              <a:t>Cooperative MARL · RWARE</a:t>
            </a:r>
            <a:endParaRPr lang="en-US" sz="900" dirty="0"/>
          </a:p>
        </p:txBody>
      </p:sp>
      <p:sp>
        <p:nvSpPr>
          <p:cNvPr id="4" name="Text 2"/>
          <p:cNvSpPr/>
          <p:nvPr/>
        </p:nvSpPr>
        <p:spPr>
          <a:xfrm>
            <a:off x="11094415" y="6537960"/>
            <a:ext cx="822960" cy="228600"/>
          </a:xfrm>
          <a:prstGeom prst="rect">
            <a:avLst/>
          </a:prstGeom>
          <a:noFill/>
          <a:ln/>
        </p:spPr>
        <p:txBody>
          <a:bodyPr wrap="square" lIns="0" tIns="0" rIns="0" bIns="0" rtlCol="0" anchor="ctr"/>
          <a:lstStyle/>
          <a:p>
            <a:pPr algn="r" indent="0" marL="0">
              <a:buNone/>
            </a:pPr>
            <a:r>
              <a:rPr lang="en-US" sz="900" dirty="0">
                <a:solidFill>
                  <a:srgbClr val="5C6F94"/>
                </a:solidFill>
                <a:latin typeface="Calibri" pitchFamily="34" charset="0"/>
                <a:ea typeface="Calibri" pitchFamily="34" charset="-122"/>
                <a:cs typeface="Calibri" pitchFamily="34" charset="-120"/>
              </a:rPr>
              <a:t>4 / 13</a:t>
            </a:r>
            <a:endParaRPr lang="en-US" sz="900" dirty="0"/>
          </a:p>
        </p:txBody>
      </p:sp>
      <p:sp>
        <p:nvSpPr>
          <p:cNvPr id="5" name="Text 3"/>
          <p:cNvSpPr/>
          <p:nvPr/>
        </p:nvSpPr>
        <p:spPr>
          <a:xfrm>
            <a:off x="502920" y="292608"/>
            <a:ext cx="10972800" cy="292608"/>
          </a:xfrm>
          <a:prstGeom prst="rect">
            <a:avLst/>
          </a:prstGeom>
          <a:noFill/>
          <a:ln/>
        </p:spPr>
        <p:txBody>
          <a:bodyPr wrap="square" lIns="0" tIns="0" rIns="0" bIns="0" rtlCol="0" anchor="ctr"/>
          <a:lstStyle/>
          <a:p>
            <a:pPr indent="0" marL="0">
              <a:buNone/>
            </a:pPr>
            <a:r>
              <a:rPr lang="en-US" sz="1100" b="1" spc="400" kern="0" dirty="0">
                <a:solidFill>
                  <a:srgbClr val="E8A33D"/>
                </a:solidFill>
                <a:latin typeface="Calibri" pitchFamily="34" charset="0"/>
                <a:ea typeface="Calibri" pitchFamily="34" charset="-122"/>
                <a:cs typeface="Calibri" pitchFamily="34" charset="-120"/>
              </a:rPr>
              <a:t>METRIC</a:t>
            </a:r>
            <a:endParaRPr lang="en-US" sz="1100" dirty="0"/>
          </a:p>
        </p:txBody>
      </p:sp>
      <p:sp>
        <p:nvSpPr>
          <p:cNvPr id="6" name="Text 4"/>
          <p:cNvSpPr/>
          <p:nvPr/>
        </p:nvSpPr>
        <p:spPr>
          <a:xfrm>
            <a:off x="502920" y="566928"/>
            <a:ext cx="11338560" cy="868680"/>
          </a:xfrm>
          <a:prstGeom prst="rect">
            <a:avLst/>
          </a:prstGeom>
          <a:noFill/>
          <a:ln/>
        </p:spPr>
        <p:txBody>
          <a:bodyPr wrap="square" lIns="0" tIns="0" rIns="0" bIns="0" rtlCol="0" anchor="t"/>
          <a:lstStyle/>
          <a:p>
            <a:pPr indent="0" marL="0">
              <a:buNone/>
            </a:pPr>
            <a:r>
              <a:rPr lang="en-US" sz="2800" b="1" dirty="0">
                <a:solidFill>
                  <a:srgbClr val="1E2761"/>
                </a:solidFill>
                <a:latin typeface="Calibri" pitchFamily="34" charset="0"/>
                <a:ea typeface="Calibri" pitchFamily="34" charset="-122"/>
                <a:cs typeface="Calibri" pitchFamily="34" charset="-120"/>
              </a:rPr>
              <a:t>We measure the interaction effect, not a one-off gain</a:t>
            </a:r>
            <a:endParaRPr lang="en-US" sz="2800" dirty="0"/>
          </a:p>
        </p:txBody>
      </p:sp>
      <p:sp>
        <p:nvSpPr>
          <p:cNvPr id="7" name="Shape 5"/>
          <p:cNvSpPr/>
          <p:nvPr/>
        </p:nvSpPr>
        <p:spPr>
          <a:xfrm>
            <a:off x="502920" y="1508760"/>
            <a:ext cx="5303520" cy="1417320"/>
          </a:xfrm>
          <a:prstGeom prst="rect">
            <a:avLst/>
          </a:prstGeom>
          <a:solidFill>
            <a:srgbClr val="F4F6FB"/>
          </a:solidFill>
          <a:ln w="9525">
            <a:solidFill>
              <a:srgbClr val="CADCFC"/>
            </a:solidFill>
            <a:prstDash val="solid"/>
          </a:ln>
        </p:spPr>
      </p:sp>
      <p:sp>
        <p:nvSpPr>
          <p:cNvPr id="8" name="Text 6"/>
          <p:cNvSpPr/>
          <p:nvPr/>
        </p:nvSpPr>
        <p:spPr>
          <a:xfrm>
            <a:off x="685800" y="1600200"/>
            <a:ext cx="50292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Interaction (the headline target)</a:t>
            </a:r>
            <a:endParaRPr lang="en-US" sz="1300" dirty="0"/>
          </a:p>
        </p:txBody>
      </p:sp>
      <p:sp>
        <p:nvSpPr>
          <p:cNvPr id="9" name="Text 7"/>
          <p:cNvSpPr/>
          <p:nvPr/>
        </p:nvSpPr>
        <p:spPr>
          <a:xfrm>
            <a:off x="685800" y="1965960"/>
            <a:ext cx="5074920" cy="731520"/>
          </a:xfrm>
          <a:prstGeom prst="rect">
            <a:avLst/>
          </a:prstGeom>
          <a:noFill/>
          <a:ln/>
        </p:spPr>
        <p:txBody>
          <a:bodyPr wrap="square" lIns="0" tIns="0" rIns="0" bIns="0" rtlCol="0" anchor="t"/>
          <a:lstStyle/>
          <a:p>
            <a:pPr indent="0" marL="0">
              <a:buNone/>
            </a:pPr>
            <a:r>
              <a:rPr lang="en-US" sz="2200" b="1" dirty="0">
                <a:solidFill>
                  <a:srgbClr val="1E2761"/>
                </a:solidFill>
                <a:latin typeface="Calibri" pitchFamily="34" charset="0"/>
                <a:ea typeface="Calibri" pitchFamily="34" charset="-122"/>
                <a:cs typeface="Calibri" pitchFamily="34" charset="-120"/>
              </a:rPr>
              <a:t>Δ</a:t>
            </a:r>
            <a:pPr indent="0" marL="0">
              <a:buNone/>
            </a:pPr>
            <a:r>
              <a:rPr lang="en-US" sz="1600" dirty="0">
                <a:solidFill>
                  <a:srgbClr val="1A1A1A"/>
                </a:solidFill>
                <a:latin typeface="Calibri" pitchFamily="34" charset="0"/>
                <a:ea typeface="Calibri" pitchFamily="34" charset="-122"/>
                <a:cs typeface="Calibri" pitchFamily="34" charset="-120"/>
              </a:rPr>
              <a:t> = (comm benefit | dropout) − (comm benefit | delay-only)</a:t>
            </a:r>
            <a:endParaRPr lang="en-US" sz="2200" dirty="0"/>
          </a:p>
        </p:txBody>
      </p:sp>
      <p:sp>
        <p:nvSpPr>
          <p:cNvPr id="10" name="Text 8"/>
          <p:cNvSpPr/>
          <p:nvPr/>
        </p:nvSpPr>
        <p:spPr>
          <a:xfrm>
            <a:off x="502920" y="3108960"/>
            <a:ext cx="5303520" cy="2377440"/>
          </a:xfrm>
          <a:prstGeom prst="rect">
            <a:avLst/>
          </a:prstGeom>
          <a:noFill/>
          <a:ln/>
        </p:spPr>
        <p:txBody>
          <a:bodyPr wrap="square" lIns="50800" tIns="50800" rIns="50800" bIns="50800" rtlCol="0" anchor="t"/>
          <a:lstStyle/>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Tests whether comm helps specifically when dropout creates real ambiguity.</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Subtracts away the generic “comm helps coordination” effect.</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Stable across reasonable changes in shaping and eval budget.</a:t>
            </a:r>
            <a:endParaRPr lang="en-US" sz="1500" dirty="0"/>
          </a:p>
        </p:txBody>
      </p:sp>
      <p:sp>
        <p:nvSpPr>
          <p:cNvPr id="11" name="Shape 9"/>
          <p:cNvSpPr/>
          <p:nvPr/>
        </p:nvSpPr>
        <p:spPr>
          <a:xfrm>
            <a:off x="6263640" y="1508760"/>
            <a:ext cx="5577840" cy="4023360"/>
          </a:xfrm>
          <a:prstGeom prst="rect">
            <a:avLst/>
          </a:prstGeom>
          <a:solidFill>
            <a:srgbClr val="FFFFFF"/>
          </a:solidFill>
          <a:ln w="9525">
            <a:solidFill>
              <a:srgbClr val="CADCFC"/>
            </a:solidFill>
            <a:prstDash val="solid"/>
          </a:ln>
        </p:spPr>
      </p:sp>
      <p:sp>
        <p:nvSpPr>
          <p:cNvPr id="12" name="Text 10"/>
          <p:cNvSpPr/>
          <p:nvPr/>
        </p:nvSpPr>
        <p:spPr>
          <a:xfrm>
            <a:off x="6446520" y="1600200"/>
            <a:ext cx="530352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Method × Regime  →  unshaped eval return</a:t>
            </a:r>
            <a:endParaRPr lang="en-US" sz="1300" dirty="0"/>
          </a:p>
        </p:txBody>
      </p:sp>
      <p:sp>
        <p:nvSpPr>
          <p:cNvPr id="13" name="Shape 11"/>
          <p:cNvSpPr/>
          <p:nvPr/>
        </p:nvSpPr>
        <p:spPr>
          <a:xfrm>
            <a:off x="6446520" y="2011680"/>
            <a:ext cx="1737360" cy="640080"/>
          </a:xfrm>
          <a:prstGeom prst="rect">
            <a:avLst/>
          </a:prstGeom>
          <a:solidFill>
            <a:srgbClr val="F4F6FB"/>
          </a:solidFill>
          <a:ln w="6350">
            <a:solidFill>
              <a:srgbClr val="B9C4DA"/>
            </a:solidFill>
            <a:prstDash val="solid"/>
          </a:ln>
        </p:spPr>
      </p:sp>
      <p:sp>
        <p:nvSpPr>
          <p:cNvPr id="14" name="Text 12"/>
          <p:cNvSpPr/>
          <p:nvPr/>
        </p:nvSpPr>
        <p:spPr>
          <a:xfrm>
            <a:off x="6501384" y="2011680"/>
            <a:ext cx="1627632" cy="640080"/>
          </a:xfrm>
          <a:prstGeom prst="rect">
            <a:avLst/>
          </a:prstGeom>
          <a:noFill/>
          <a:ln/>
        </p:spPr>
        <p:txBody>
          <a:bodyPr wrap="square" lIns="0" tIns="0" rIns="0" bIns="0" rtlCol="0" anchor="ctr"/>
          <a:lstStyle/>
          <a:p>
            <a:pPr algn="ctr" indent="0" marL="0">
              <a:buNone/>
            </a:pPr>
            <a:endParaRPr lang="en-US" sz="1200" dirty="0"/>
          </a:p>
        </p:txBody>
      </p:sp>
      <p:sp>
        <p:nvSpPr>
          <p:cNvPr id="15" name="Shape 13"/>
          <p:cNvSpPr/>
          <p:nvPr/>
        </p:nvSpPr>
        <p:spPr>
          <a:xfrm>
            <a:off x="8183880" y="2011680"/>
            <a:ext cx="1737360" cy="640080"/>
          </a:xfrm>
          <a:prstGeom prst="rect">
            <a:avLst/>
          </a:prstGeom>
          <a:solidFill>
            <a:srgbClr val="F4F6FB"/>
          </a:solidFill>
          <a:ln w="6350">
            <a:solidFill>
              <a:srgbClr val="B9C4DA"/>
            </a:solidFill>
            <a:prstDash val="solid"/>
          </a:ln>
        </p:spPr>
      </p:sp>
      <p:sp>
        <p:nvSpPr>
          <p:cNvPr id="16" name="Text 14"/>
          <p:cNvSpPr/>
          <p:nvPr/>
        </p:nvSpPr>
        <p:spPr>
          <a:xfrm>
            <a:off x="8238744" y="2011680"/>
            <a:ext cx="1627632" cy="64008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delay-only</a:t>
            </a:r>
            <a:endParaRPr lang="en-US" sz="1200" dirty="0"/>
          </a:p>
        </p:txBody>
      </p:sp>
      <p:sp>
        <p:nvSpPr>
          <p:cNvPr id="17" name="Shape 15"/>
          <p:cNvSpPr/>
          <p:nvPr/>
        </p:nvSpPr>
        <p:spPr>
          <a:xfrm>
            <a:off x="9921240" y="2011680"/>
            <a:ext cx="1737360" cy="640080"/>
          </a:xfrm>
          <a:prstGeom prst="rect">
            <a:avLst/>
          </a:prstGeom>
          <a:solidFill>
            <a:srgbClr val="F4F6FB"/>
          </a:solidFill>
          <a:ln w="6350">
            <a:solidFill>
              <a:srgbClr val="B9C4DA"/>
            </a:solidFill>
            <a:prstDash val="solid"/>
          </a:ln>
        </p:spPr>
      </p:sp>
      <p:sp>
        <p:nvSpPr>
          <p:cNvPr id="18" name="Text 16"/>
          <p:cNvSpPr/>
          <p:nvPr/>
        </p:nvSpPr>
        <p:spPr>
          <a:xfrm>
            <a:off x="9976104" y="2011680"/>
            <a:ext cx="1627632" cy="64008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delay-dropout</a:t>
            </a:r>
            <a:endParaRPr lang="en-US" sz="1200" dirty="0"/>
          </a:p>
        </p:txBody>
      </p:sp>
      <p:sp>
        <p:nvSpPr>
          <p:cNvPr id="19" name="Shape 17"/>
          <p:cNvSpPr/>
          <p:nvPr/>
        </p:nvSpPr>
        <p:spPr>
          <a:xfrm>
            <a:off x="6446520" y="2651760"/>
            <a:ext cx="1737360" cy="640080"/>
          </a:xfrm>
          <a:prstGeom prst="rect">
            <a:avLst/>
          </a:prstGeom>
          <a:solidFill>
            <a:srgbClr val="F4F6FB"/>
          </a:solidFill>
          <a:ln w="6350">
            <a:solidFill>
              <a:srgbClr val="B9C4DA"/>
            </a:solidFill>
            <a:prstDash val="solid"/>
          </a:ln>
        </p:spPr>
      </p:sp>
      <p:sp>
        <p:nvSpPr>
          <p:cNvPr id="20" name="Text 18"/>
          <p:cNvSpPr/>
          <p:nvPr/>
        </p:nvSpPr>
        <p:spPr>
          <a:xfrm>
            <a:off x="6501384" y="2651760"/>
            <a:ext cx="1627632" cy="640080"/>
          </a:xfrm>
          <a:prstGeom prst="rect">
            <a:avLst/>
          </a:prstGeom>
          <a:noFill/>
          <a:ln/>
        </p:spPr>
        <p:txBody>
          <a:bodyPr wrap="square" lIns="0" tIns="0" rIns="0" bIns="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hb-only</a:t>
            </a:r>
            <a:endParaRPr lang="en-US" sz="1200" dirty="0"/>
          </a:p>
        </p:txBody>
      </p:sp>
      <p:sp>
        <p:nvSpPr>
          <p:cNvPr id="21" name="Shape 19"/>
          <p:cNvSpPr/>
          <p:nvPr/>
        </p:nvSpPr>
        <p:spPr>
          <a:xfrm>
            <a:off x="8183880" y="2651760"/>
            <a:ext cx="1737360" cy="640080"/>
          </a:xfrm>
          <a:prstGeom prst="rect">
            <a:avLst/>
          </a:prstGeom>
          <a:solidFill>
            <a:srgbClr val="FFFFFF"/>
          </a:solidFill>
          <a:ln w="6350">
            <a:solidFill>
              <a:srgbClr val="B9C4DA"/>
            </a:solidFill>
            <a:prstDash val="solid"/>
          </a:ln>
        </p:spPr>
      </p:sp>
      <p:sp>
        <p:nvSpPr>
          <p:cNvPr id="22" name="Text 20"/>
          <p:cNvSpPr/>
          <p:nvPr/>
        </p:nvSpPr>
        <p:spPr>
          <a:xfrm>
            <a:off x="8238744" y="2651760"/>
            <a:ext cx="1627632" cy="640080"/>
          </a:xfrm>
          <a:prstGeom prst="rect">
            <a:avLst/>
          </a:prstGeom>
          <a:noFill/>
          <a:ln/>
        </p:spPr>
        <p:txBody>
          <a:bodyPr wrap="square" lIns="0" tIns="0" rIns="0" bIns="0" rtlCol="0" anchor="ctr"/>
          <a:lstStyle/>
          <a:p>
            <a:pPr algn="ctr" indent="0" marL="0">
              <a:buNone/>
            </a:pPr>
            <a:r>
              <a:rPr lang="en-US" sz="1600" dirty="0">
                <a:solidFill>
                  <a:srgbClr val="1A1A1A"/>
                </a:solidFill>
                <a:latin typeface="Calibri" pitchFamily="34" charset="0"/>
                <a:ea typeface="Calibri" pitchFamily="34" charset="-122"/>
                <a:cs typeface="Calibri" pitchFamily="34" charset="-120"/>
              </a:rPr>
              <a:t>A</a:t>
            </a:r>
            <a:endParaRPr lang="en-US" sz="1600" dirty="0"/>
          </a:p>
        </p:txBody>
      </p:sp>
      <p:sp>
        <p:nvSpPr>
          <p:cNvPr id="23" name="Shape 21"/>
          <p:cNvSpPr/>
          <p:nvPr/>
        </p:nvSpPr>
        <p:spPr>
          <a:xfrm>
            <a:off x="9921240" y="2651760"/>
            <a:ext cx="1737360" cy="640080"/>
          </a:xfrm>
          <a:prstGeom prst="rect">
            <a:avLst/>
          </a:prstGeom>
          <a:solidFill>
            <a:srgbClr val="FFFFFF"/>
          </a:solidFill>
          <a:ln w="6350">
            <a:solidFill>
              <a:srgbClr val="B9C4DA"/>
            </a:solidFill>
            <a:prstDash val="solid"/>
          </a:ln>
        </p:spPr>
      </p:sp>
      <p:sp>
        <p:nvSpPr>
          <p:cNvPr id="24" name="Text 22"/>
          <p:cNvSpPr/>
          <p:nvPr/>
        </p:nvSpPr>
        <p:spPr>
          <a:xfrm>
            <a:off x="9976104" y="2651760"/>
            <a:ext cx="1627632" cy="640080"/>
          </a:xfrm>
          <a:prstGeom prst="rect">
            <a:avLst/>
          </a:prstGeom>
          <a:noFill/>
          <a:ln/>
        </p:spPr>
        <p:txBody>
          <a:bodyPr wrap="square" lIns="0" tIns="0" rIns="0" bIns="0" rtlCol="0" anchor="ctr"/>
          <a:lstStyle/>
          <a:p>
            <a:pPr algn="ctr" indent="0" marL="0">
              <a:buNone/>
            </a:pPr>
            <a:r>
              <a:rPr lang="en-US" sz="1600" dirty="0">
                <a:solidFill>
                  <a:srgbClr val="1A1A1A"/>
                </a:solidFill>
                <a:latin typeface="Calibri" pitchFamily="34" charset="0"/>
                <a:ea typeface="Calibri" pitchFamily="34" charset="-122"/>
                <a:cs typeface="Calibri" pitchFamily="34" charset="-120"/>
              </a:rPr>
              <a:t>C</a:t>
            </a:r>
            <a:endParaRPr lang="en-US" sz="1600" dirty="0"/>
          </a:p>
        </p:txBody>
      </p:sp>
      <p:sp>
        <p:nvSpPr>
          <p:cNvPr id="25" name="Shape 23"/>
          <p:cNvSpPr/>
          <p:nvPr/>
        </p:nvSpPr>
        <p:spPr>
          <a:xfrm>
            <a:off x="6446520" y="3291840"/>
            <a:ext cx="1737360" cy="640080"/>
          </a:xfrm>
          <a:prstGeom prst="rect">
            <a:avLst/>
          </a:prstGeom>
          <a:solidFill>
            <a:srgbClr val="F4F6FB"/>
          </a:solidFill>
          <a:ln w="6350">
            <a:solidFill>
              <a:srgbClr val="B9C4DA"/>
            </a:solidFill>
            <a:prstDash val="solid"/>
          </a:ln>
        </p:spPr>
      </p:sp>
      <p:sp>
        <p:nvSpPr>
          <p:cNvPr id="26" name="Text 24"/>
          <p:cNvSpPr/>
          <p:nvPr/>
        </p:nvSpPr>
        <p:spPr>
          <a:xfrm>
            <a:off x="6501384" y="3291840"/>
            <a:ext cx="1627632" cy="640080"/>
          </a:xfrm>
          <a:prstGeom prst="rect">
            <a:avLst/>
          </a:prstGeom>
          <a:noFill/>
          <a:ln/>
        </p:spPr>
        <p:txBody>
          <a:bodyPr wrap="square" lIns="0" tIns="0" rIns="0" bIns="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hb+comm</a:t>
            </a:r>
            <a:endParaRPr lang="en-US" sz="1200" dirty="0"/>
          </a:p>
        </p:txBody>
      </p:sp>
      <p:sp>
        <p:nvSpPr>
          <p:cNvPr id="27" name="Shape 25"/>
          <p:cNvSpPr/>
          <p:nvPr/>
        </p:nvSpPr>
        <p:spPr>
          <a:xfrm>
            <a:off x="8183880" y="3291840"/>
            <a:ext cx="1737360" cy="640080"/>
          </a:xfrm>
          <a:prstGeom prst="rect">
            <a:avLst/>
          </a:prstGeom>
          <a:solidFill>
            <a:srgbClr val="FFFFFF"/>
          </a:solidFill>
          <a:ln w="6350">
            <a:solidFill>
              <a:srgbClr val="B9C4DA"/>
            </a:solidFill>
            <a:prstDash val="solid"/>
          </a:ln>
        </p:spPr>
      </p:sp>
      <p:sp>
        <p:nvSpPr>
          <p:cNvPr id="28" name="Text 26"/>
          <p:cNvSpPr/>
          <p:nvPr/>
        </p:nvSpPr>
        <p:spPr>
          <a:xfrm>
            <a:off x="8238744" y="3291840"/>
            <a:ext cx="1627632" cy="640080"/>
          </a:xfrm>
          <a:prstGeom prst="rect">
            <a:avLst/>
          </a:prstGeom>
          <a:noFill/>
          <a:ln/>
        </p:spPr>
        <p:txBody>
          <a:bodyPr wrap="square" lIns="0" tIns="0" rIns="0" bIns="0" rtlCol="0" anchor="ctr"/>
          <a:lstStyle/>
          <a:p>
            <a:pPr algn="ctr" indent="0" marL="0">
              <a:buNone/>
            </a:pPr>
            <a:r>
              <a:rPr lang="en-US" sz="1600" dirty="0">
                <a:solidFill>
                  <a:srgbClr val="1A1A1A"/>
                </a:solidFill>
                <a:latin typeface="Calibri" pitchFamily="34" charset="0"/>
                <a:ea typeface="Calibri" pitchFamily="34" charset="-122"/>
                <a:cs typeface="Calibri" pitchFamily="34" charset="-120"/>
              </a:rPr>
              <a:t>B</a:t>
            </a:r>
            <a:endParaRPr lang="en-US" sz="1600" dirty="0"/>
          </a:p>
        </p:txBody>
      </p:sp>
      <p:sp>
        <p:nvSpPr>
          <p:cNvPr id="29" name="Shape 27"/>
          <p:cNvSpPr/>
          <p:nvPr/>
        </p:nvSpPr>
        <p:spPr>
          <a:xfrm>
            <a:off x="9921240" y="3291840"/>
            <a:ext cx="1737360" cy="640080"/>
          </a:xfrm>
          <a:prstGeom prst="rect">
            <a:avLst/>
          </a:prstGeom>
          <a:solidFill>
            <a:srgbClr val="FFFFFF"/>
          </a:solidFill>
          <a:ln w="6350">
            <a:solidFill>
              <a:srgbClr val="B9C4DA"/>
            </a:solidFill>
            <a:prstDash val="solid"/>
          </a:ln>
        </p:spPr>
      </p:sp>
      <p:sp>
        <p:nvSpPr>
          <p:cNvPr id="30" name="Text 28"/>
          <p:cNvSpPr/>
          <p:nvPr/>
        </p:nvSpPr>
        <p:spPr>
          <a:xfrm>
            <a:off x="9976104" y="3291840"/>
            <a:ext cx="1627632" cy="640080"/>
          </a:xfrm>
          <a:prstGeom prst="rect">
            <a:avLst/>
          </a:prstGeom>
          <a:noFill/>
          <a:ln/>
        </p:spPr>
        <p:txBody>
          <a:bodyPr wrap="square" lIns="0" tIns="0" rIns="0" bIns="0" rtlCol="0" anchor="ctr"/>
          <a:lstStyle/>
          <a:p>
            <a:pPr algn="ctr" indent="0" marL="0">
              <a:buNone/>
            </a:pPr>
            <a:r>
              <a:rPr lang="en-US" sz="1600" dirty="0">
                <a:solidFill>
                  <a:srgbClr val="1A1A1A"/>
                </a:solidFill>
                <a:latin typeface="Calibri" pitchFamily="34" charset="0"/>
                <a:ea typeface="Calibri" pitchFamily="34" charset="-122"/>
                <a:cs typeface="Calibri" pitchFamily="34" charset="-120"/>
              </a:rPr>
              <a:t>D</a:t>
            </a:r>
            <a:endParaRPr lang="en-US" sz="1600" dirty="0"/>
          </a:p>
        </p:txBody>
      </p:sp>
      <p:sp>
        <p:nvSpPr>
          <p:cNvPr id="31" name="Text 29"/>
          <p:cNvSpPr/>
          <p:nvPr/>
        </p:nvSpPr>
        <p:spPr>
          <a:xfrm>
            <a:off x="6446520" y="4297680"/>
            <a:ext cx="5303520" cy="105156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comm benefit | dropout = </a:t>
            </a:r>
            <a:pPr indent="0" marL="0">
              <a:buNone/>
            </a:pPr>
            <a:r>
              <a:rPr lang="en-US" sz="1300" b="1" dirty="0">
                <a:solidFill>
                  <a:srgbClr val="1E2761"/>
                </a:solidFill>
                <a:latin typeface="Calibri" pitchFamily="34" charset="0"/>
                <a:ea typeface="Calibri" pitchFamily="34" charset="-122"/>
                <a:cs typeface="Calibri" pitchFamily="34" charset="-120"/>
              </a:rPr>
              <a:t>D − C</a:t>
            </a: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comm benefit | delay-only = </a:t>
            </a:r>
            <a:pPr indent="0" marL="0">
              <a:buNone/>
            </a:pPr>
            <a:r>
              <a:rPr lang="en-US" sz="1300" b="1" dirty="0">
                <a:solidFill>
                  <a:srgbClr val="1E2761"/>
                </a:solidFill>
                <a:latin typeface="Calibri" pitchFamily="34" charset="0"/>
                <a:ea typeface="Calibri" pitchFamily="34" charset="-122"/>
                <a:cs typeface="Calibri" pitchFamily="34" charset="-120"/>
              </a:rPr>
              <a:t>B − A</a:t>
            </a: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interaction Δ = </a:t>
            </a:r>
            <a:pPr indent="0" marL="0">
              <a:buNone/>
            </a:pPr>
            <a:r>
              <a:rPr lang="en-US" sz="1300" b="1" dirty="0">
                <a:solidFill>
                  <a:srgbClr val="E8A33D"/>
                </a:solidFill>
                <a:latin typeface="Calibri" pitchFamily="34" charset="0"/>
                <a:ea typeface="Calibri" pitchFamily="34" charset="-122"/>
                <a:cs typeface="Calibri" pitchFamily="34" charset="-120"/>
              </a:rPr>
              <a:t>(D − C) − (B − A)</a:t>
            </a:r>
            <a:endParaRPr lang="en-US" sz="1300" dirty="0"/>
          </a:p>
        </p:txBody>
      </p:sp>
      <p:sp>
        <p:nvSpPr>
          <p:cNvPr id="32" name="Shape 30"/>
          <p:cNvSpPr/>
          <p:nvPr/>
        </p:nvSpPr>
        <p:spPr>
          <a:xfrm>
            <a:off x="502920" y="5943600"/>
            <a:ext cx="11185855" cy="502920"/>
          </a:xfrm>
          <a:prstGeom prst="rect">
            <a:avLst/>
          </a:prstGeom>
          <a:solidFill>
            <a:srgbClr val="F4F6FB"/>
          </a:solidFill>
          <a:ln w="9525">
            <a:solidFill>
              <a:srgbClr val="CADCFC"/>
            </a:solidFill>
            <a:prstDash val="solid"/>
          </a:ln>
        </p:spPr>
      </p:sp>
      <p:sp>
        <p:nvSpPr>
          <p:cNvPr id="33" name="Shape 31"/>
          <p:cNvSpPr/>
          <p:nvPr/>
        </p:nvSpPr>
        <p:spPr>
          <a:xfrm>
            <a:off x="502920" y="5943600"/>
            <a:ext cx="73152" cy="502920"/>
          </a:xfrm>
          <a:prstGeom prst="rect">
            <a:avLst/>
          </a:prstGeom>
          <a:solidFill>
            <a:srgbClr val="E8A33D"/>
          </a:solidFill>
          <a:ln/>
        </p:spPr>
      </p:sp>
      <p:sp>
        <p:nvSpPr>
          <p:cNvPr id="34" name="Text 32"/>
          <p:cNvSpPr/>
          <p:nvPr/>
        </p:nvSpPr>
        <p:spPr>
          <a:xfrm>
            <a:off x="713232" y="5943600"/>
            <a:ext cx="10911535" cy="5029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Speaker note: </a:t>
            </a:r>
            <a:pPr indent="0" marL="0">
              <a:buNone/>
            </a:pPr>
            <a:r>
              <a:rPr lang="en-US" sz="1100" i="1" dirty="0">
                <a:solidFill>
                  <a:srgbClr val="1A1A1A"/>
                </a:solidFill>
                <a:latin typeface="Calibri" pitchFamily="34" charset="0"/>
                <a:ea typeface="Calibri" pitchFamily="34" charset="-122"/>
                <a:cs typeface="Calibri" pitchFamily="34" charset="-120"/>
              </a:rPr>
              <a:t>The interaction asks whether messages help more when dropout is real — exactly the falsifiable form of our hypothesis.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E2761"/>
          </a:solidFill>
          <a:ln/>
        </p:spPr>
      </p:sp>
      <p:sp>
        <p:nvSpPr>
          <p:cNvPr id="3" name="Text 1"/>
          <p:cNvSpPr/>
          <p:nvPr/>
        </p:nvSpPr>
        <p:spPr>
          <a:xfrm>
            <a:off x="411480" y="6537960"/>
            <a:ext cx="7772400" cy="228600"/>
          </a:xfrm>
          <a:prstGeom prst="rect">
            <a:avLst/>
          </a:prstGeom>
          <a:noFill/>
          <a:ln/>
        </p:spPr>
        <p:txBody>
          <a:bodyPr wrap="square" lIns="0" tIns="0" rIns="0" bIns="0" rtlCol="0" anchor="ctr"/>
          <a:lstStyle/>
          <a:p>
            <a:pPr indent="0" marL="0">
              <a:buNone/>
            </a:pPr>
            <a:r>
              <a:rPr lang="en-US" sz="900" dirty="0">
                <a:solidFill>
                  <a:srgbClr val="5C6F94"/>
                </a:solidFill>
                <a:latin typeface="Calibri" pitchFamily="34" charset="0"/>
                <a:ea typeface="Calibri" pitchFamily="34" charset="-122"/>
                <a:cs typeface="Calibri" pitchFamily="34" charset="-120"/>
              </a:rPr>
              <a:t>Communication Under Delayed Liveness</a:t>
            </a:r>
            <a:pPr indent="0" marL="0">
              <a:buNone/>
            </a:pPr>
            <a:r>
              <a:rPr lang="en-US" sz="900" dirty="0">
                <a:solidFill>
                  <a:srgbClr val="B9C4DA"/>
                </a:solidFill>
                <a:latin typeface="Calibri" pitchFamily="34" charset="0"/>
                <a:ea typeface="Calibri" pitchFamily="34" charset="-122"/>
                <a:cs typeface="Calibri" pitchFamily="34" charset="-120"/>
              </a:rPr>
              <a:t>   |   </a:t>
            </a:r>
            <a:pPr indent="0" marL="0">
              <a:buNone/>
            </a:pPr>
            <a:r>
              <a:rPr lang="en-US" sz="900" i="1" dirty="0">
                <a:solidFill>
                  <a:srgbClr val="5C6F94"/>
                </a:solidFill>
                <a:latin typeface="Calibri" pitchFamily="34" charset="0"/>
                <a:ea typeface="Calibri" pitchFamily="34" charset="-122"/>
                <a:cs typeface="Calibri" pitchFamily="34" charset="-120"/>
              </a:rPr>
              <a:t>Cooperative MARL · RWARE</a:t>
            </a:r>
            <a:endParaRPr lang="en-US" sz="900" dirty="0"/>
          </a:p>
        </p:txBody>
      </p:sp>
      <p:sp>
        <p:nvSpPr>
          <p:cNvPr id="4" name="Text 2"/>
          <p:cNvSpPr/>
          <p:nvPr/>
        </p:nvSpPr>
        <p:spPr>
          <a:xfrm>
            <a:off x="11094415" y="6537960"/>
            <a:ext cx="822960" cy="228600"/>
          </a:xfrm>
          <a:prstGeom prst="rect">
            <a:avLst/>
          </a:prstGeom>
          <a:noFill/>
          <a:ln/>
        </p:spPr>
        <p:txBody>
          <a:bodyPr wrap="square" lIns="0" tIns="0" rIns="0" bIns="0" rtlCol="0" anchor="ctr"/>
          <a:lstStyle/>
          <a:p>
            <a:pPr algn="r" indent="0" marL="0">
              <a:buNone/>
            </a:pPr>
            <a:r>
              <a:rPr lang="en-US" sz="900" dirty="0">
                <a:solidFill>
                  <a:srgbClr val="5C6F94"/>
                </a:solidFill>
                <a:latin typeface="Calibri" pitchFamily="34" charset="0"/>
                <a:ea typeface="Calibri" pitchFamily="34" charset="-122"/>
                <a:cs typeface="Calibri" pitchFamily="34" charset="-120"/>
              </a:rPr>
              <a:t>5 / 13</a:t>
            </a:r>
            <a:endParaRPr lang="en-US" sz="900" dirty="0"/>
          </a:p>
        </p:txBody>
      </p:sp>
      <p:sp>
        <p:nvSpPr>
          <p:cNvPr id="5" name="Text 3"/>
          <p:cNvSpPr/>
          <p:nvPr/>
        </p:nvSpPr>
        <p:spPr>
          <a:xfrm>
            <a:off x="502920" y="292608"/>
            <a:ext cx="10972800" cy="292608"/>
          </a:xfrm>
          <a:prstGeom prst="rect">
            <a:avLst/>
          </a:prstGeom>
          <a:noFill/>
          <a:ln/>
        </p:spPr>
        <p:txBody>
          <a:bodyPr wrap="square" lIns="0" tIns="0" rIns="0" bIns="0" rtlCol="0" anchor="ctr"/>
          <a:lstStyle/>
          <a:p>
            <a:pPr indent="0" marL="0">
              <a:buNone/>
            </a:pPr>
            <a:r>
              <a:rPr lang="en-US" sz="1100" b="1" spc="400" kern="0" dirty="0">
                <a:solidFill>
                  <a:srgbClr val="E8A33D"/>
                </a:solidFill>
                <a:latin typeface="Calibri" pitchFamily="34" charset="0"/>
                <a:ea typeface="Calibri" pitchFamily="34" charset="-122"/>
                <a:cs typeface="Calibri" pitchFamily="34" charset="-120"/>
              </a:rPr>
              <a:t>PROCESS</a:t>
            </a:r>
            <a:endParaRPr lang="en-US" sz="1100" dirty="0"/>
          </a:p>
        </p:txBody>
      </p:sp>
      <p:sp>
        <p:nvSpPr>
          <p:cNvPr id="6" name="Text 4"/>
          <p:cNvSpPr/>
          <p:nvPr/>
        </p:nvSpPr>
        <p:spPr>
          <a:xfrm>
            <a:off x="502920" y="566928"/>
            <a:ext cx="11338560" cy="868680"/>
          </a:xfrm>
          <a:prstGeom prst="rect">
            <a:avLst/>
          </a:prstGeom>
          <a:noFill/>
          <a:ln/>
        </p:spPr>
        <p:txBody>
          <a:bodyPr wrap="square" lIns="0" tIns="0" rIns="0" bIns="0" rtlCol="0" anchor="t"/>
          <a:lstStyle/>
          <a:p>
            <a:pPr indent="0" marL="0">
              <a:buNone/>
            </a:pPr>
            <a:r>
              <a:rPr lang="en-US" sz="2800" b="1" dirty="0">
                <a:solidFill>
                  <a:srgbClr val="1E2761"/>
                </a:solidFill>
                <a:latin typeface="Calibri" pitchFamily="34" charset="0"/>
                <a:ea typeface="Calibri" pitchFamily="34" charset="-122"/>
                <a:cs typeface="Calibri" pitchFamily="34" charset="-120"/>
              </a:rPr>
              <a:t>How the story matured as the evaluation got stronger</a:t>
            </a:r>
            <a:endParaRPr lang="en-US" sz="2800" dirty="0"/>
          </a:p>
        </p:txBody>
      </p:sp>
      <p:sp>
        <p:nvSpPr>
          <p:cNvPr id="7" name="Shape 5"/>
          <p:cNvSpPr/>
          <p:nvPr/>
        </p:nvSpPr>
        <p:spPr>
          <a:xfrm>
            <a:off x="502920" y="1508760"/>
            <a:ext cx="3576218" cy="2194560"/>
          </a:xfrm>
          <a:prstGeom prst="rect">
            <a:avLst/>
          </a:prstGeom>
          <a:solidFill>
            <a:srgbClr val="FFFFFF"/>
          </a:solidFill>
          <a:ln w="9525">
            <a:solidFill>
              <a:srgbClr val="CADCFC"/>
            </a:solidFill>
            <a:prstDash val="solid"/>
          </a:ln>
        </p:spPr>
      </p:sp>
      <p:sp>
        <p:nvSpPr>
          <p:cNvPr id="8" name="Shape 6"/>
          <p:cNvSpPr/>
          <p:nvPr/>
        </p:nvSpPr>
        <p:spPr>
          <a:xfrm>
            <a:off x="502920" y="1508760"/>
            <a:ext cx="3576218" cy="411480"/>
          </a:xfrm>
          <a:prstGeom prst="rect">
            <a:avLst/>
          </a:prstGeom>
          <a:solidFill>
            <a:srgbClr val="8E1C1C"/>
          </a:solidFill>
          <a:ln/>
        </p:spPr>
      </p:sp>
      <p:sp>
        <p:nvSpPr>
          <p:cNvPr id="9" name="Text 7"/>
          <p:cNvSpPr/>
          <p:nvPr/>
        </p:nvSpPr>
        <p:spPr>
          <a:xfrm>
            <a:off x="667512" y="1572768"/>
            <a:ext cx="3301898" cy="292608"/>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PHASE 1</a:t>
            </a:r>
            <a:endParaRPr lang="en-US" sz="1100" dirty="0"/>
          </a:p>
        </p:txBody>
      </p:sp>
      <p:sp>
        <p:nvSpPr>
          <p:cNvPr id="10" name="Text 8"/>
          <p:cNvSpPr/>
          <p:nvPr/>
        </p:nvSpPr>
        <p:spPr>
          <a:xfrm>
            <a:off x="685800" y="2057400"/>
            <a:ext cx="3210458"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Cheap eval, tiny maps</a:t>
            </a:r>
            <a:endParaRPr lang="en-US" sz="1600" dirty="0"/>
          </a:p>
        </p:txBody>
      </p:sp>
      <p:sp>
        <p:nvSpPr>
          <p:cNvPr id="11" name="Text 9"/>
          <p:cNvSpPr/>
          <p:nvPr/>
        </p:nvSpPr>
        <p:spPr>
          <a:xfrm>
            <a:off x="685800" y="2560320"/>
            <a:ext cx="3210458" cy="109728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3 episodes / checkpoint; coarse reward grid; pilots can look “positive” by chance.</a:t>
            </a:r>
            <a:endParaRPr lang="en-US" sz="1200" dirty="0"/>
          </a:p>
        </p:txBody>
      </p:sp>
      <p:sp>
        <p:nvSpPr>
          <p:cNvPr id="12" name="Shape 10"/>
          <p:cNvSpPr/>
          <p:nvPr/>
        </p:nvSpPr>
        <p:spPr>
          <a:xfrm>
            <a:off x="4307738" y="1508760"/>
            <a:ext cx="3576218" cy="2194560"/>
          </a:xfrm>
          <a:prstGeom prst="rect">
            <a:avLst/>
          </a:prstGeom>
          <a:solidFill>
            <a:srgbClr val="FFFFFF"/>
          </a:solidFill>
          <a:ln w="9525">
            <a:solidFill>
              <a:srgbClr val="CADCFC"/>
            </a:solidFill>
            <a:prstDash val="solid"/>
          </a:ln>
        </p:spPr>
      </p:sp>
      <p:sp>
        <p:nvSpPr>
          <p:cNvPr id="13" name="Shape 11"/>
          <p:cNvSpPr/>
          <p:nvPr/>
        </p:nvSpPr>
        <p:spPr>
          <a:xfrm>
            <a:off x="4307738" y="1508760"/>
            <a:ext cx="3576218" cy="411480"/>
          </a:xfrm>
          <a:prstGeom prst="rect">
            <a:avLst/>
          </a:prstGeom>
          <a:solidFill>
            <a:srgbClr val="1E2761"/>
          </a:solidFill>
          <a:ln/>
        </p:spPr>
      </p:sp>
      <p:sp>
        <p:nvSpPr>
          <p:cNvPr id="14" name="Text 12"/>
          <p:cNvSpPr/>
          <p:nvPr/>
        </p:nvSpPr>
        <p:spPr>
          <a:xfrm>
            <a:off x="4472330" y="1572768"/>
            <a:ext cx="3301898" cy="292608"/>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PHASE 2</a:t>
            </a:r>
            <a:endParaRPr lang="en-US" sz="1100" dirty="0"/>
          </a:p>
        </p:txBody>
      </p:sp>
      <p:sp>
        <p:nvSpPr>
          <p:cNvPr id="15" name="Text 13"/>
          <p:cNvSpPr/>
          <p:nvPr/>
        </p:nvSpPr>
        <p:spPr>
          <a:xfrm>
            <a:off x="4490618" y="2057400"/>
            <a:ext cx="3210458"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Production eval + pooling</a:t>
            </a:r>
            <a:endParaRPr lang="en-US" sz="1600" dirty="0"/>
          </a:p>
        </p:txBody>
      </p:sp>
      <p:sp>
        <p:nvSpPr>
          <p:cNvPr id="16" name="Text 14"/>
          <p:cNvSpPr/>
          <p:nvPr/>
        </p:nvSpPr>
        <p:spPr>
          <a:xfrm>
            <a:off x="4490618" y="2560320"/>
            <a:ext cx="3210458" cy="109728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30 episodes / checkpoint, n = 6 across labs; eval SEM drops 2–7×; interaction weakens.</a:t>
            </a:r>
            <a:endParaRPr lang="en-US" sz="1200" dirty="0"/>
          </a:p>
        </p:txBody>
      </p:sp>
      <p:sp>
        <p:nvSpPr>
          <p:cNvPr id="17" name="Shape 15"/>
          <p:cNvSpPr/>
          <p:nvPr/>
        </p:nvSpPr>
        <p:spPr>
          <a:xfrm>
            <a:off x="8112557" y="1508760"/>
            <a:ext cx="3576218" cy="2194560"/>
          </a:xfrm>
          <a:prstGeom prst="rect">
            <a:avLst/>
          </a:prstGeom>
          <a:solidFill>
            <a:srgbClr val="FFFFFF"/>
          </a:solidFill>
          <a:ln w="9525">
            <a:solidFill>
              <a:srgbClr val="CADCFC"/>
            </a:solidFill>
            <a:prstDash val="solid"/>
          </a:ln>
        </p:spPr>
      </p:sp>
      <p:sp>
        <p:nvSpPr>
          <p:cNvPr id="18" name="Shape 16"/>
          <p:cNvSpPr/>
          <p:nvPr/>
        </p:nvSpPr>
        <p:spPr>
          <a:xfrm>
            <a:off x="8112557" y="1508760"/>
            <a:ext cx="3576218" cy="411480"/>
          </a:xfrm>
          <a:prstGeom prst="rect">
            <a:avLst/>
          </a:prstGeom>
          <a:solidFill>
            <a:srgbClr val="0E6E5C"/>
          </a:solidFill>
          <a:ln/>
        </p:spPr>
      </p:sp>
      <p:sp>
        <p:nvSpPr>
          <p:cNvPr id="19" name="Text 17"/>
          <p:cNvSpPr/>
          <p:nvPr/>
        </p:nvSpPr>
        <p:spPr>
          <a:xfrm>
            <a:off x="8277149" y="1572768"/>
            <a:ext cx="3301898" cy="292608"/>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PHASE 3</a:t>
            </a:r>
            <a:endParaRPr lang="en-US" sz="1100" dirty="0"/>
          </a:p>
        </p:txBody>
      </p:sp>
      <p:sp>
        <p:nvSpPr>
          <p:cNvPr id="20" name="Text 18"/>
          <p:cNvSpPr/>
          <p:nvPr/>
        </p:nvSpPr>
        <p:spPr>
          <a:xfrm>
            <a:off x="8295437" y="2057400"/>
            <a:ext cx="3210458"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Cleaner map + diagnostics</a:t>
            </a:r>
            <a:endParaRPr lang="en-US" sz="1600" dirty="0"/>
          </a:p>
        </p:txBody>
      </p:sp>
      <p:sp>
        <p:nvSpPr>
          <p:cNvPr id="21" name="Text 19"/>
          <p:cNvSpPr/>
          <p:nvPr/>
        </p:nvSpPr>
        <p:spPr>
          <a:xfrm>
            <a:off x="8295437" y="2560320"/>
            <a:ext cx="3210458" cy="109728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Stop arguing seeds, start arguing mechanisms: headroom, grounding, oracle ceilings.</a:t>
            </a:r>
            <a:endParaRPr lang="en-US" sz="1200" dirty="0"/>
          </a:p>
        </p:txBody>
      </p:sp>
      <p:sp>
        <p:nvSpPr>
          <p:cNvPr id="22" name="Shape 20"/>
          <p:cNvSpPr/>
          <p:nvPr/>
        </p:nvSpPr>
        <p:spPr>
          <a:xfrm>
            <a:off x="502920" y="3794760"/>
            <a:ext cx="11185855" cy="54864"/>
          </a:xfrm>
          <a:prstGeom prst="rect">
            <a:avLst/>
          </a:prstGeom>
          <a:solidFill>
            <a:srgbClr val="CADCFC"/>
          </a:solidFill>
          <a:ln/>
        </p:spPr>
      </p:sp>
      <p:sp>
        <p:nvSpPr>
          <p:cNvPr id="23" name="Shape 21"/>
          <p:cNvSpPr/>
          <p:nvPr/>
        </p:nvSpPr>
        <p:spPr>
          <a:xfrm>
            <a:off x="11048695" y="3685032"/>
            <a:ext cx="274320" cy="274320"/>
          </a:xfrm>
          <a:prstGeom prst="ellipse">
            <a:avLst/>
          </a:prstGeom>
          <a:solidFill>
            <a:srgbClr val="E8A33D"/>
          </a:solidFill>
          <a:ln/>
        </p:spPr>
      </p:sp>
      <p:pic>
        <p:nvPicPr>
          <p:cNvPr id="24" name="Image 0" descr="/sessions/gifted-wonderful-hopper/mnt/outputs/figs/v3_dashboard.png">    </p:cNvPr>
          <p:cNvPicPr>
            <a:picLocks noChangeAspect="1"/>
          </p:cNvPicPr>
          <p:nvPr/>
        </p:nvPicPr>
        <p:blipFill>
          <a:blip r:embed="rId1"/>
          <a:stretch>
            <a:fillRect/>
          </a:stretch>
        </p:blipFill>
        <p:spPr>
          <a:xfrm>
            <a:off x="502920" y="4160520"/>
            <a:ext cx="1178560" cy="1325880"/>
          </a:xfrm>
          <a:prstGeom prst="rect">
            <a:avLst/>
          </a:prstGeom>
        </p:spPr>
      </p:pic>
      <p:sp>
        <p:nvSpPr>
          <p:cNvPr id="25" name="Text 22"/>
          <p:cNvSpPr/>
          <p:nvPr/>
        </p:nvSpPr>
        <p:spPr>
          <a:xfrm>
            <a:off x="1846072" y="4343400"/>
            <a:ext cx="4114800" cy="914400"/>
          </a:xfrm>
          <a:prstGeom prst="rect">
            <a:avLst/>
          </a:prstGeom>
          <a:noFill/>
          <a:ln/>
        </p:spPr>
        <p:txBody>
          <a:bodyPr wrap="square" lIns="0" tIns="0" rIns="0" bIns="0" rtlCol="0" anchor="t"/>
          <a:lstStyle/>
          <a:p>
            <a:pPr indent="0" marL="0">
              <a:buNone/>
            </a:pPr>
            <a:r>
              <a:rPr lang="en-US" sz="1000" b="1" dirty="0">
                <a:solidFill>
                  <a:srgbClr val="1E2761"/>
                </a:solidFill>
                <a:latin typeface="Calibri" pitchFamily="34" charset="0"/>
                <a:ea typeface="Calibri" pitchFamily="34" charset="-122"/>
                <a:cs typeface="Calibri" pitchFamily="34" charset="-120"/>
              </a:rPr>
              <a:t>Phase 1 — pilot v3 dashboard (n = 6, eval = 3 ep/ckpt)</a:t>
            </a:r>
            <a:endParaRPr lang="en-US" sz="1000" dirty="0"/>
          </a:p>
          <a:p>
            <a:pPr indent="0" marL="0">
              <a:buNone/>
            </a:pPr>
            <a:r>
              <a:rPr lang="en-US" sz="900" i="1" dirty="0">
                <a:solidFill>
                  <a:srgbClr val="5C6F94"/>
                </a:solidFill>
                <a:latin typeface="Calibri" pitchFamily="34" charset="0"/>
                <a:ea typeface="Calibri" pitchFamily="34" charset="-122"/>
                <a:cs typeface="Calibri" pitchFamily="34" charset="-120"/>
              </a:rPr>
              <a:t>Used only to demonstrate that cheap eval was misleading.</a:t>
            </a:r>
            <a:endParaRPr lang="en-US" sz="1000" dirty="0"/>
          </a:p>
        </p:txBody>
      </p:sp>
      <p:pic>
        <p:nvPicPr>
          <p:cNvPr id="26" name="Image 1" descr="/sessions/gifted-wonderful-hopper/mnt/outputs/figs/v4_pooled_dashboard.png">    </p:cNvPr>
          <p:cNvPicPr>
            <a:picLocks noChangeAspect="1"/>
          </p:cNvPicPr>
          <p:nvPr/>
        </p:nvPicPr>
        <p:blipFill>
          <a:blip r:embed="rId2"/>
          <a:stretch>
            <a:fillRect/>
          </a:stretch>
        </p:blipFill>
        <p:spPr>
          <a:xfrm>
            <a:off x="6400800" y="4160520"/>
            <a:ext cx="1178560" cy="1325880"/>
          </a:xfrm>
          <a:prstGeom prst="rect">
            <a:avLst/>
          </a:prstGeom>
        </p:spPr>
      </p:pic>
      <p:sp>
        <p:nvSpPr>
          <p:cNvPr id="27" name="Text 23"/>
          <p:cNvSpPr/>
          <p:nvPr/>
        </p:nvSpPr>
        <p:spPr>
          <a:xfrm>
            <a:off x="7743952" y="4343400"/>
            <a:ext cx="4114800" cy="914400"/>
          </a:xfrm>
          <a:prstGeom prst="rect">
            <a:avLst/>
          </a:prstGeom>
          <a:noFill/>
          <a:ln/>
        </p:spPr>
        <p:txBody>
          <a:bodyPr wrap="square" lIns="0" tIns="0" rIns="0" bIns="0" rtlCol="0" anchor="t"/>
          <a:lstStyle/>
          <a:p>
            <a:pPr indent="0" marL="0">
              <a:buNone/>
            </a:pPr>
            <a:r>
              <a:rPr lang="en-US" sz="1000" b="1" dirty="0">
                <a:solidFill>
                  <a:srgbClr val="1E2761"/>
                </a:solidFill>
                <a:latin typeface="Calibri" pitchFamily="34" charset="0"/>
                <a:ea typeface="Calibri" pitchFamily="34" charset="-122"/>
                <a:cs typeface="Calibri" pitchFamily="34" charset="-120"/>
              </a:rPr>
              <a:t>Phase 2 — pilot v4 pooled (n = 6, production eval)</a:t>
            </a:r>
            <a:endParaRPr lang="en-US" sz="1000" dirty="0"/>
          </a:p>
          <a:p>
            <a:pPr indent="0" marL="0">
              <a:buNone/>
            </a:pPr>
            <a:r>
              <a:rPr lang="en-US" sz="900" i="1" dirty="0">
                <a:solidFill>
                  <a:srgbClr val="5C6F94"/>
                </a:solidFill>
                <a:latin typeface="Calibri" pitchFamily="34" charset="0"/>
                <a:ea typeface="Calibri" pitchFamily="34" charset="-122"/>
                <a:cs typeface="Calibri" pitchFamily="34" charset="-120"/>
              </a:rPr>
              <a:t>Shaped train vs. unshaped eval split — the first major correction.</a:t>
            </a:r>
            <a:endParaRPr lang="en-US" sz="1000" dirty="0"/>
          </a:p>
        </p:txBody>
      </p:sp>
      <p:sp>
        <p:nvSpPr>
          <p:cNvPr id="28" name="Shape 24"/>
          <p:cNvSpPr/>
          <p:nvPr/>
        </p:nvSpPr>
        <p:spPr>
          <a:xfrm>
            <a:off x="502920" y="5943600"/>
            <a:ext cx="11185855" cy="502920"/>
          </a:xfrm>
          <a:prstGeom prst="rect">
            <a:avLst/>
          </a:prstGeom>
          <a:solidFill>
            <a:srgbClr val="F4F6FB"/>
          </a:solidFill>
          <a:ln w="9525">
            <a:solidFill>
              <a:srgbClr val="CADCFC"/>
            </a:solidFill>
            <a:prstDash val="solid"/>
          </a:ln>
        </p:spPr>
      </p:sp>
      <p:sp>
        <p:nvSpPr>
          <p:cNvPr id="29" name="Shape 25"/>
          <p:cNvSpPr/>
          <p:nvPr/>
        </p:nvSpPr>
        <p:spPr>
          <a:xfrm>
            <a:off x="502920" y="5943600"/>
            <a:ext cx="73152" cy="502920"/>
          </a:xfrm>
          <a:prstGeom prst="rect">
            <a:avLst/>
          </a:prstGeom>
          <a:solidFill>
            <a:srgbClr val="E8A33D"/>
          </a:solidFill>
          <a:ln/>
        </p:spPr>
      </p:sp>
      <p:sp>
        <p:nvSpPr>
          <p:cNvPr id="30" name="Text 26"/>
          <p:cNvSpPr/>
          <p:nvPr/>
        </p:nvSpPr>
        <p:spPr>
          <a:xfrm>
            <a:off x="713232" y="5943600"/>
            <a:ext cx="10911535" cy="5029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Speaker note: </a:t>
            </a:r>
            <a:pPr indent="0" marL="0">
              <a:buNone/>
            </a:pPr>
            <a:r>
              <a:rPr lang="en-US" sz="1100" i="1" dirty="0">
                <a:solidFill>
                  <a:srgbClr val="1A1A1A"/>
                </a:solidFill>
                <a:latin typeface="Calibri" pitchFamily="34" charset="0"/>
                <a:ea typeface="Calibri" pitchFamily="34" charset="-122"/>
                <a:cs typeface="Calibri" pitchFamily="34" charset="-120"/>
              </a:rPr>
              <a:t>We are not cherry-picking — we are stress-testing the same hypothesis under stronger evaluation.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E2761"/>
          </a:solidFill>
          <a:ln/>
        </p:spPr>
      </p:sp>
      <p:sp>
        <p:nvSpPr>
          <p:cNvPr id="3" name="Text 1"/>
          <p:cNvSpPr/>
          <p:nvPr/>
        </p:nvSpPr>
        <p:spPr>
          <a:xfrm>
            <a:off x="411480" y="6537960"/>
            <a:ext cx="7772400" cy="228600"/>
          </a:xfrm>
          <a:prstGeom prst="rect">
            <a:avLst/>
          </a:prstGeom>
          <a:noFill/>
          <a:ln/>
        </p:spPr>
        <p:txBody>
          <a:bodyPr wrap="square" lIns="0" tIns="0" rIns="0" bIns="0" rtlCol="0" anchor="ctr"/>
          <a:lstStyle/>
          <a:p>
            <a:pPr indent="0" marL="0">
              <a:buNone/>
            </a:pPr>
            <a:r>
              <a:rPr lang="en-US" sz="900" dirty="0">
                <a:solidFill>
                  <a:srgbClr val="5C6F94"/>
                </a:solidFill>
                <a:latin typeface="Calibri" pitchFamily="34" charset="0"/>
                <a:ea typeface="Calibri" pitchFamily="34" charset="-122"/>
                <a:cs typeface="Calibri" pitchFamily="34" charset="-120"/>
              </a:rPr>
              <a:t>Communication Under Delayed Liveness</a:t>
            </a:r>
            <a:pPr indent="0" marL="0">
              <a:buNone/>
            </a:pPr>
            <a:r>
              <a:rPr lang="en-US" sz="900" dirty="0">
                <a:solidFill>
                  <a:srgbClr val="B9C4DA"/>
                </a:solidFill>
                <a:latin typeface="Calibri" pitchFamily="34" charset="0"/>
                <a:ea typeface="Calibri" pitchFamily="34" charset="-122"/>
                <a:cs typeface="Calibri" pitchFamily="34" charset="-120"/>
              </a:rPr>
              <a:t>   |   </a:t>
            </a:r>
            <a:pPr indent="0" marL="0">
              <a:buNone/>
            </a:pPr>
            <a:r>
              <a:rPr lang="en-US" sz="900" i="1" dirty="0">
                <a:solidFill>
                  <a:srgbClr val="5C6F94"/>
                </a:solidFill>
                <a:latin typeface="Calibri" pitchFamily="34" charset="0"/>
                <a:ea typeface="Calibri" pitchFamily="34" charset="-122"/>
                <a:cs typeface="Calibri" pitchFamily="34" charset="-120"/>
              </a:rPr>
              <a:t>Cooperative MARL · RWARE</a:t>
            </a:r>
            <a:endParaRPr lang="en-US" sz="900" dirty="0"/>
          </a:p>
        </p:txBody>
      </p:sp>
      <p:sp>
        <p:nvSpPr>
          <p:cNvPr id="4" name="Text 2"/>
          <p:cNvSpPr/>
          <p:nvPr/>
        </p:nvSpPr>
        <p:spPr>
          <a:xfrm>
            <a:off x="11094415" y="6537960"/>
            <a:ext cx="822960" cy="228600"/>
          </a:xfrm>
          <a:prstGeom prst="rect">
            <a:avLst/>
          </a:prstGeom>
          <a:noFill/>
          <a:ln/>
        </p:spPr>
        <p:txBody>
          <a:bodyPr wrap="square" lIns="0" tIns="0" rIns="0" bIns="0" rtlCol="0" anchor="ctr"/>
          <a:lstStyle/>
          <a:p>
            <a:pPr algn="r" indent="0" marL="0">
              <a:buNone/>
            </a:pPr>
            <a:r>
              <a:rPr lang="en-US" sz="900" dirty="0">
                <a:solidFill>
                  <a:srgbClr val="5C6F94"/>
                </a:solidFill>
                <a:latin typeface="Calibri" pitchFamily="34" charset="0"/>
                <a:ea typeface="Calibri" pitchFamily="34" charset="-122"/>
                <a:cs typeface="Calibri" pitchFamily="34" charset="-120"/>
              </a:rPr>
              <a:t>6 / 13</a:t>
            </a:r>
            <a:endParaRPr lang="en-US" sz="900" dirty="0"/>
          </a:p>
        </p:txBody>
      </p:sp>
      <p:sp>
        <p:nvSpPr>
          <p:cNvPr id="5" name="Text 3"/>
          <p:cNvSpPr/>
          <p:nvPr/>
        </p:nvSpPr>
        <p:spPr>
          <a:xfrm>
            <a:off x="502920" y="292608"/>
            <a:ext cx="10972800" cy="292608"/>
          </a:xfrm>
          <a:prstGeom prst="rect">
            <a:avLst/>
          </a:prstGeom>
          <a:noFill/>
          <a:ln/>
        </p:spPr>
        <p:txBody>
          <a:bodyPr wrap="square" lIns="0" tIns="0" rIns="0" bIns="0" rtlCol="0" anchor="ctr"/>
          <a:lstStyle/>
          <a:p>
            <a:pPr indent="0" marL="0">
              <a:buNone/>
            </a:pPr>
            <a:r>
              <a:rPr lang="en-US" sz="1100" b="1" spc="400" kern="0" dirty="0">
                <a:solidFill>
                  <a:srgbClr val="E8A33D"/>
                </a:solidFill>
                <a:latin typeface="Calibri" pitchFamily="34" charset="0"/>
                <a:ea typeface="Calibri" pitchFamily="34" charset="-122"/>
                <a:cs typeface="Calibri" pitchFamily="34" charset="-120"/>
              </a:rPr>
              <a:t>MAIN RESULT</a:t>
            </a:r>
            <a:endParaRPr lang="en-US" sz="1100" dirty="0"/>
          </a:p>
        </p:txBody>
      </p:sp>
      <p:sp>
        <p:nvSpPr>
          <p:cNvPr id="6" name="Text 4"/>
          <p:cNvSpPr/>
          <p:nvPr/>
        </p:nvSpPr>
        <p:spPr>
          <a:xfrm>
            <a:off x="502920" y="566928"/>
            <a:ext cx="11338560" cy="868680"/>
          </a:xfrm>
          <a:prstGeom prst="rect">
            <a:avLst/>
          </a:prstGeom>
          <a:noFill/>
          <a:ln/>
        </p:spPr>
        <p:txBody>
          <a:bodyPr wrap="square" lIns="0" tIns="0" rIns="0" bIns="0" rtlCol="0" anchor="t"/>
          <a:lstStyle/>
          <a:p>
            <a:pPr indent="0" marL="0">
              <a:buNone/>
            </a:pPr>
            <a:r>
              <a:rPr lang="en-US" sz="2800" b="1" dirty="0">
                <a:solidFill>
                  <a:srgbClr val="1E2761"/>
                </a:solidFill>
                <a:latin typeface="Calibri" pitchFamily="34" charset="0"/>
                <a:ea typeface="Calibri" pitchFamily="34" charset="-122"/>
                <a:cs typeface="Calibri" pitchFamily="34" charset="-120"/>
              </a:rPr>
              <a:t>Pooled main results: learned comm does not show dropout-specific rescue</a:t>
            </a:r>
            <a:endParaRPr lang="en-US" sz="2800" dirty="0"/>
          </a:p>
        </p:txBody>
      </p:sp>
      <p:pic>
        <p:nvPicPr>
          <p:cNvPr id="7" name="Image 0" descr="/sessions/gifted-wonderful-hopper/mnt/outputs/figs/smoke_small_dashboard.png">    </p:cNvPr>
          <p:cNvPicPr>
            <a:picLocks noChangeAspect="1"/>
          </p:cNvPicPr>
          <p:nvPr/>
        </p:nvPicPr>
        <p:blipFill>
          <a:blip r:embed="rId1"/>
          <a:stretch>
            <a:fillRect/>
          </a:stretch>
        </p:blipFill>
        <p:spPr>
          <a:xfrm>
            <a:off x="502920" y="1508760"/>
            <a:ext cx="3454400" cy="3886200"/>
          </a:xfrm>
          <a:prstGeom prst="rect">
            <a:avLst/>
          </a:prstGeom>
        </p:spPr>
      </p:pic>
      <p:sp>
        <p:nvSpPr>
          <p:cNvPr id="8" name="Text 5"/>
          <p:cNvSpPr/>
          <p:nvPr/>
        </p:nvSpPr>
        <p:spPr>
          <a:xfrm>
            <a:off x="502920" y="5413248"/>
            <a:ext cx="3454400" cy="228600"/>
          </a:xfrm>
          <a:prstGeom prst="rect">
            <a:avLst/>
          </a:prstGeom>
          <a:noFill/>
          <a:ln/>
        </p:spPr>
        <p:txBody>
          <a:bodyPr wrap="square" lIns="0" tIns="0" rIns="0" bIns="0" rtlCol="0" anchor="ctr"/>
          <a:lstStyle/>
          <a:p>
            <a:pPr indent="0" marL="0">
              <a:buNone/>
            </a:pPr>
            <a:r>
              <a:rPr lang="en-US" sz="1000" i="1" dirty="0">
                <a:solidFill>
                  <a:srgbClr val="5C6F94"/>
                </a:solidFill>
                <a:latin typeface="Calibri" pitchFamily="34" charset="0"/>
                <a:ea typeface="Calibri" pitchFamily="34" charset="-122"/>
                <a:cs typeface="Calibri" pitchFamily="34" charset="-120"/>
              </a:rPr>
              <a:t>Figure 1 — pooled smoke, rware-small-4ag-v2.</a:t>
            </a:r>
            <a:endParaRPr lang="en-US" sz="1000" dirty="0"/>
          </a:p>
        </p:txBody>
      </p:sp>
      <p:sp>
        <p:nvSpPr>
          <p:cNvPr id="9" name="Text 6"/>
          <p:cNvSpPr/>
          <p:nvPr/>
        </p:nvSpPr>
        <p:spPr>
          <a:xfrm>
            <a:off x="4323080" y="1508760"/>
            <a:ext cx="741141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What the pooled eval shows</a:t>
            </a:r>
            <a:endParaRPr lang="en-US" sz="1400" dirty="0"/>
          </a:p>
        </p:txBody>
      </p:sp>
      <p:sp>
        <p:nvSpPr>
          <p:cNvPr id="10" name="Text 7"/>
          <p:cNvSpPr/>
          <p:nvPr/>
        </p:nvSpPr>
        <p:spPr>
          <a:xfrm>
            <a:off x="4323080" y="1874520"/>
            <a:ext cx="7411415" cy="1737360"/>
          </a:xfrm>
          <a:prstGeom prst="rect">
            <a:avLst/>
          </a:prstGeom>
          <a:noFill/>
          <a:ln/>
        </p:spPr>
        <p:txBody>
          <a:bodyPr wrap="square" lIns="50800" tIns="50800" rIns="50800" bIns="50800" rtlCol="0" anchor="t"/>
          <a:lstStyle/>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Comm benefit under dropout is not consistently positive in unshaped eval.</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Per-seed signs disagree — high variance, not an underpowered positive.</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Train return improves with comm (shaping artifact) but eval does not.</a:t>
            </a:r>
            <a:endParaRPr lang="en-US" sz="1500" dirty="0"/>
          </a:p>
        </p:txBody>
      </p:sp>
      <p:sp>
        <p:nvSpPr>
          <p:cNvPr id="11" name="Shape 8"/>
          <p:cNvSpPr/>
          <p:nvPr/>
        </p:nvSpPr>
        <p:spPr>
          <a:xfrm>
            <a:off x="4323080" y="3886200"/>
            <a:ext cx="7411415" cy="2240280"/>
          </a:xfrm>
          <a:prstGeom prst="rect">
            <a:avLst/>
          </a:prstGeom>
          <a:solidFill>
            <a:srgbClr val="F4F6FB"/>
          </a:solidFill>
          <a:ln w="9525">
            <a:solidFill>
              <a:srgbClr val="CADCFC"/>
            </a:solidFill>
            <a:prstDash val="solid"/>
          </a:ln>
        </p:spPr>
      </p:sp>
      <p:sp>
        <p:nvSpPr>
          <p:cNvPr id="12" name="Text 9"/>
          <p:cNvSpPr/>
          <p:nvPr/>
        </p:nvSpPr>
        <p:spPr>
          <a:xfrm>
            <a:off x="4487672" y="3977640"/>
            <a:ext cx="7137095"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Interaction estimates (Δ on unshaped eval)</a:t>
            </a:r>
            <a:endParaRPr lang="en-US" sz="1300" dirty="0"/>
          </a:p>
        </p:txBody>
      </p:sp>
      <p:sp>
        <p:nvSpPr>
          <p:cNvPr id="13" name="Text 10"/>
          <p:cNvSpPr/>
          <p:nvPr/>
        </p:nvSpPr>
        <p:spPr>
          <a:xfrm>
            <a:off x="4487672" y="4389120"/>
            <a:ext cx="3522828" cy="640080"/>
          </a:xfrm>
          <a:prstGeom prst="rect">
            <a:avLst/>
          </a:prstGeom>
          <a:noFill/>
          <a:ln/>
        </p:spPr>
        <p:txBody>
          <a:bodyPr wrap="square" lIns="0" tIns="0" rIns="0" bIns="0" rtlCol="0" anchor="ctr"/>
          <a:lstStyle/>
          <a:p>
            <a:pPr algn="l" indent="0" marL="0">
              <a:buNone/>
            </a:pPr>
            <a:r>
              <a:rPr lang="en-US" sz="3000" b="1" dirty="0">
                <a:solidFill>
                  <a:srgbClr val="8E1C1C"/>
                </a:solidFill>
                <a:latin typeface="Calibri" pitchFamily="34" charset="0"/>
                <a:ea typeface="Calibri" pitchFamily="34" charset="-122"/>
                <a:cs typeface="Calibri" pitchFamily="34" charset="-120"/>
              </a:rPr>
              <a:t>−12.8</a:t>
            </a:r>
            <a:endParaRPr lang="en-US" sz="3000" dirty="0"/>
          </a:p>
        </p:txBody>
      </p:sp>
      <p:sp>
        <p:nvSpPr>
          <p:cNvPr id="14" name="Text 11"/>
          <p:cNvSpPr/>
          <p:nvPr/>
        </p:nvSpPr>
        <p:spPr>
          <a:xfrm>
            <a:off x="4487672" y="5029200"/>
            <a:ext cx="3522828" cy="2743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exp_pilot_v4_pooled</a:t>
            </a:r>
            <a:endParaRPr lang="en-US" sz="1100" dirty="0"/>
          </a:p>
        </p:txBody>
      </p:sp>
      <p:sp>
        <p:nvSpPr>
          <p:cNvPr id="15" name="Text 12"/>
          <p:cNvSpPr/>
          <p:nvPr/>
        </p:nvSpPr>
        <p:spPr>
          <a:xfrm>
            <a:off x="4487672" y="5257800"/>
            <a:ext cx="3522828" cy="411480"/>
          </a:xfrm>
          <a:prstGeom prst="rect">
            <a:avLst/>
          </a:prstGeom>
          <a:noFill/>
          <a:ln/>
        </p:spPr>
        <p:txBody>
          <a:bodyPr wrap="square" lIns="0" tIns="0" rIns="0" bIns="0" rtlCol="0" anchor="ctr"/>
          <a:lstStyle/>
          <a:p>
            <a:pPr indent="0" marL="0">
              <a:buNone/>
            </a:pPr>
            <a:r>
              <a:rPr lang="en-US" sz="1000" i="1" dirty="0">
                <a:solidFill>
                  <a:srgbClr val="5C6F94"/>
                </a:solidFill>
                <a:latin typeface="Calibri" pitchFamily="34" charset="0"/>
                <a:ea typeface="Calibri" pitchFamily="34" charset="-122"/>
                <a:cs typeface="Calibri" pitchFamily="34" charset="-120"/>
              </a:rPr>
              <a:t>n = 6, tiny-4ag-v2, unshaped eval (last 10).</a:t>
            </a:r>
            <a:endParaRPr lang="en-US" sz="1000" dirty="0"/>
          </a:p>
        </p:txBody>
      </p:sp>
      <p:sp>
        <p:nvSpPr>
          <p:cNvPr id="16" name="Text 13"/>
          <p:cNvSpPr/>
          <p:nvPr/>
        </p:nvSpPr>
        <p:spPr>
          <a:xfrm>
            <a:off x="8074508" y="4389120"/>
            <a:ext cx="3522828" cy="640080"/>
          </a:xfrm>
          <a:prstGeom prst="rect">
            <a:avLst/>
          </a:prstGeom>
          <a:noFill/>
          <a:ln/>
        </p:spPr>
        <p:txBody>
          <a:bodyPr wrap="square" lIns="0" tIns="0" rIns="0" bIns="0" rtlCol="0" anchor="ctr"/>
          <a:lstStyle/>
          <a:p>
            <a:pPr algn="l" indent="0" marL="0">
              <a:buNone/>
            </a:pPr>
            <a:r>
              <a:rPr lang="en-US" sz="3000" b="1" dirty="0">
                <a:solidFill>
                  <a:srgbClr val="8E1C1C"/>
                </a:solidFill>
                <a:latin typeface="Calibri" pitchFamily="34" charset="0"/>
                <a:ea typeface="Calibri" pitchFamily="34" charset="-122"/>
                <a:cs typeface="Calibri" pitchFamily="34" charset="-120"/>
              </a:rPr>
              <a:t>−10.7</a:t>
            </a:r>
            <a:endParaRPr lang="en-US" sz="3000" dirty="0"/>
          </a:p>
        </p:txBody>
      </p:sp>
      <p:sp>
        <p:nvSpPr>
          <p:cNvPr id="17" name="Text 14"/>
          <p:cNvSpPr/>
          <p:nvPr/>
        </p:nvSpPr>
        <p:spPr>
          <a:xfrm>
            <a:off x="8074508" y="5029200"/>
            <a:ext cx="3522828" cy="2743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smoke_small_v1_pooled</a:t>
            </a:r>
            <a:endParaRPr lang="en-US" sz="1100" dirty="0"/>
          </a:p>
        </p:txBody>
      </p:sp>
      <p:sp>
        <p:nvSpPr>
          <p:cNvPr id="18" name="Text 15"/>
          <p:cNvSpPr/>
          <p:nvPr/>
        </p:nvSpPr>
        <p:spPr>
          <a:xfrm>
            <a:off x="8074508" y="5257800"/>
            <a:ext cx="3522828" cy="411480"/>
          </a:xfrm>
          <a:prstGeom prst="rect">
            <a:avLst/>
          </a:prstGeom>
          <a:noFill/>
          <a:ln/>
        </p:spPr>
        <p:txBody>
          <a:bodyPr wrap="square" lIns="0" tIns="0" rIns="0" bIns="0" rtlCol="0" anchor="ctr"/>
          <a:lstStyle/>
          <a:p>
            <a:pPr indent="0" marL="0">
              <a:buNone/>
            </a:pPr>
            <a:r>
              <a:rPr lang="en-US" sz="1000" i="1" dirty="0">
                <a:solidFill>
                  <a:srgbClr val="5C6F94"/>
                </a:solidFill>
                <a:latin typeface="Calibri" pitchFamily="34" charset="0"/>
                <a:ea typeface="Calibri" pitchFamily="34" charset="-122"/>
                <a:cs typeface="Calibri" pitchFamily="34" charset="-120"/>
              </a:rPr>
              <a:t>small-4ag-v2 smoke; same direction, larger map.</a:t>
            </a:r>
            <a:endParaRPr lang="en-US" sz="1000" dirty="0"/>
          </a:p>
        </p:txBody>
      </p:sp>
      <p:sp>
        <p:nvSpPr>
          <p:cNvPr id="19" name="Shape 16"/>
          <p:cNvSpPr/>
          <p:nvPr/>
        </p:nvSpPr>
        <p:spPr>
          <a:xfrm>
            <a:off x="502920" y="5943600"/>
            <a:ext cx="11185855" cy="502920"/>
          </a:xfrm>
          <a:prstGeom prst="rect">
            <a:avLst/>
          </a:prstGeom>
          <a:solidFill>
            <a:srgbClr val="F4F6FB"/>
          </a:solidFill>
          <a:ln w="9525">
            <a:solidFill>
              <a:srgbClr val="CADCFC"/>
            </a:solidFill>
            <a:prstDash val="solid"/>
          </a:ln>
        </p:spPr>
      </p:sp>
      <p:sp>
        <p:nvSpPr>
          <p:cNvPr id="20" name="Shape 17"/>
          <p:cNvSpPr/>
          <p:nvPr/>
        </p:nvSpPr>
        <p:spPr>
          <a:xfrm>
            <a:off x="502920" y="5943600"/>
            <a:ext cx="73152" cy="502920"/>
          </a:xfrm>
          <a:prstGeom prst="rect">
            <a:avLst/>
          </a:prstGeom>
          <a:solidFill>
            <a:srgbClr val="E8A33D"/>
          </a:solidFill>
          <a:ln/>
        </p:spPr>
      </p:sp>
      <p:sp>
        <p:nvSpPr>
          <p:cNvPr id="21" name="Text 18"/>
          <p:cNvSpPr/>
          <p:nvPr/>
        </p:nvSpPr>
        <p:spPr>
          <a:xfrm>
            <a:off x="713232" y="5943600"/>
            <a:ext cx="10911535" cy="5029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Speaker note: </a:t>
            </a:r>
            <a:pPr indent="0" marL="0">
              <a:buNone/>
            </a:pPr>
            <a:r>
              <a:rPr lang="en-US" sz="1100" i="1" dirty="0">
                <a:solidFill>
                  <a:srgbClr val="1A1A1A"/>
                </a:solidFill>
                <a:latin typeface="Calibri" pitchFamily="34" charset="0"/>
                <a:ea typeface="Calibri" pitchFamily="34" charset="-122"/>
                <a:cs typeface="Calibri" pitchFamily="34" charset="-120"/>
              </a:rPr>
              <a:t>The hoped-for positive interaction is not what we observe — and the failure is consistent across map sizes.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E2761"/>
          </a:solidFill>
          <a:ln/>
        </p:spPr>
      </p:sp>
      <p:sp>
        <p:nvSpPr>
          <p:cNvPr id="3" name="Text 1"/>
          <p:cNvSpPr/>
          <p:nvPr/>
        </p:nvSpPr>
        <p:spPr>
          <a:xfrm>
            <a:off x="411480" y="6537960"/>
            <a:ext cx="7772400" cy="228600"/>
          </a:xfrm>
          <a:prstGeom prst="rect">
            <a:avLst/>
          </a:prstGeom>
          <a:noFill/>
          <a:ln/>
        </p:spPr>
        <p:txBody>
          <a:bodyPr wrap="square" lIns="0" tIns="0" rIns="0" bIns="0" rtlCol="0" anchor="ctr"/>
          <a:lstStyle/>
          <a:p>
            <a:pPr indent="0" marL="0">
              <a:buNone/>
            </a:pPr>
            <a:r>
              <a:rPr lang="en-US" sz="900" dirty="0">
                <a:solidFill>
                  <a:srgbClr val="5C6F94"/>
                </a:solidFill>
                <a:latin typeface="Calibri" pitchFamily="34" charset="0"/>
                <a:ea typeface="Calibri" pitchFamily="34" charset="-122"/>
                <a:cs typeface="Calibri" pitchFamily="34" charset="-120"/>
              </a:rPr>
              <a:t>Communication Under Delayed Liveness</a:t>
            </a:r>
            <a:pPr indent="0" marL="0">
              <a:buNone/>
            </a:pPr>
            <a:r>
              <a:rPr lang="en-US" sz="900" dirty="0">
                <a:solidFill>
                  <a:srgbClr val="B9C4DA"/>
                </a:solidFill>
                <a:latin typeface="Calibri" pitchFamily="34" charset="0"/>
                <a:ea typeface="Calibri" pitchFamily="34" charset="-122"/>
                <a:cs typeface="Calibri" pitchFamily="34" charset="-120"/>
              </a:rPr>
              <a:t>   |   </a:t>
            </a:r>
            <a:pPr indent="0" marL="0">
              <a:buNone/>
            </a:pPr>
            <a:r>
              <a:rPr lang="en-US" sz="900" i="1" dirty="0">
                <a:solidFill>
                  <a:srgbClr val="5C6F94"/>
                </a:solidFill>
                <a:latin typeface="Calibri" pitchFamily="34" charset="0"/>
                <a:ea typeface="Calibri" pitchFamily="34" charset="-122"/>
                <a:cs typeface="Calibri" pitchFamily="34" charset="-120"/>
              </a:rPr>
              <a:t>Cooperative MARL · RWARE</a:t>
            </a:r>
            <a:endParaRPr lang="en-US" sz="900" dirty="0"/>
          </a:p>
        </p:txBody>
      </p:sp>
      <p:sp>
        <p:nvSpPr>
          <p:cNvPr id="4" name="Text 2"/>
          <p:cNvSpPr/>
          <p:nvPr/>
        </p:nvSpPr>
        <p:spPr>
          <a:xfrm>
            <a:off x="11094415" y="6537960"/>
            <a:ext cx="822960" cy="228600"/>
          </a:xfrm>
          <a:prstGeom prst="rect">
            <a:avLst/>
          </a:prstGeom>
          <a:noFill/>
          <a:ln/>
        </p:spPr>
        <p:txBody>
          <a:bodyPr wrap="square" lIns="0" tIns="0" rIns="0" bIns="0" rtlCol="0" anchor="ctr"/>
          <a:lstStyle/>
          <a:p>
            <a:pPr algn="r" indent="0" marL="0">
              <a:buNone/>
            </a:pPr>
            <a:r>
              <a:rPr lang="en-US" sz="900" dirty="0">
                <a:solidFill>
                  <a:srgbClr val="5C6F94"/>
                </a:solidFill>
                <a:latin typeface="Calibri" pitchFamily="34" charset="0"/>
                <a:ea typeface="Calibri" pitchFamily="34" charset="-122"/>
                <a:cs typeface="Calibri" pitchFamily="34" charset="-120"/>
              </a:rPr>
              <a:t>7 / 13</a:t>
            </a:r>
            <a:endParaRPr lang="en-US" sz="900" dirty="0"/>
          </a:p>
        </p:txBody>
      </p:sp>
      <p:sp>
        <p:nvSpPr>
          <p:cNvPr id="5" name="Text 3"/>
          <p:cNvSpPr/>
          <p:nvPr/>
        </p:nvSpPr>
        <p:spPr>
          <a:xfrm>
            <a:off x="502920" y="292608"/>
            <a:ext cx="10972800" cy="292608"/>
          </a:xfrm>
          <a:prstGeom prst="rect">
            <a:avLst/>
          </a:prstGeom>
          <a:noFill/>
          <a:ln/>
        </p:spPr>
        <p:txBody>
          <a:bodyPr wrap="square" lIns="0" tIns="0" rIns="0" bIns="0" rtlCol="0" anchor="ctr"/>
          <a:lstStyle/>
          <a:p>
            <a:pPr indent="0" marL="0">
              <a:buNone/>
            </a:pPr>
            <a:r>
              <a:rPr lang="en-US" sz="1100" b="1" spc="400" kern="0" dirty="0">
                <a:solidFill>
                  <a:srgbClr val="E8A33D"/>
                </a:solidFill>
                <a:latin typeface="Calibri" pitchFamily="34" charset="0"/>
                <a:ea typeface="Calibri" pitchFamily="34" charset="-122"/>
                <a:cs typeface="Calibri" pitchFamily="34" charset="-120"/>
              </a:rPr>
              <a:t>CONFOUND</a:t>
            </a:r>
            <a:endParaRPr lang="en-US" sz="1100" dirty="0"/>
          </a:p>
        </p:txBody>
      </p:sp>
      <p:sp>
        <p:nvSpPr>
          <p:cNvPr id="6" name="Text 4"/>
          <p:cNvSpPr/>
          <p:nvPr/>
        </p:nvSpPr>
        <p:spPr>
          <a:xfrm>
            <a:off x="502920" y="566928"/>
            <a:ext cx="11338560" cy="868680"/>
          </a:xfrm>
          <a:prstGeom prst="rect">
            <a:avLst/>
          </a:prstGeom>
          <a:noFill/>
          <a:ln/>
        </p:spPr>
        <p:txBody>
          <a:bodyPr wrap="square" lIns="0" tIns="0" rIns="0" bIns="0" rtlCol="0" anchor="t"/>
          <a:lstStyle/>
          <a:p>
            <a:pPr indent="0" marL="0">
              <a:buNone/>
            </a:pPr>
            <a:r>
              <a:rPr lang="en-US" sz="2800" b="1" dirty="0">
                <a:solidFill>
                  <a:srgbClr val="1E2761"/>
                </a:solidFill>
                <a:latin typeface="Calibri" pitchFamily="34" charset="0"/>
                <a:ea typeface="Calibri" pitchFamily="34" charset="-122"/>
                <a:cs typeface="Calibri" pitchFamily="34" charset="-120"/>
              </a:rPr>
              <a:t>Why dropout can look “helpful” on tiny maps</a:t>
            </a:r>
            <a:endParaRPr lang="en-US" sz="2800" dirty="0"/>
          </a:p>
        </p:txBody>
      </p:sp>
      <p:pic>
        <p:nvPicPr>
          <p:cNvPr id="7" name="Image 0" descr="/sessions/gifted-wonderful-hopper/mnt/outputs/figs/v3_dashboard.png">    </p:cNvPr>
          <p:cNvPicPr>
            <a:picLocks noChangeAspect="1"/>
          </p:cNvPicPr>
          <p:nvPr/>
        </p:nvPicPr>
        <p:blipFill>
          <a:blip r:embed="rId1"/>
          <a:stretch>
            <a:fillRect/>
          </a:stretch>
        </p:blipFill>
        <p:spPr>
          <a:xfrm>
            <a:off x="502920" y="1554480"/>
            <a:ext cx="3251200" cy="3657600"/>
          </a:xfrm>
          <a:prstGeom prst="rect">
            <a:avLst/>
          </a:prstGeom>
        </p:spPr>
      </p:pic>
      <p:sp>
        <p:nvSpPr>
          <p:cNvPr id="8" name="Text 5"/>
          <p:cNvSpPr/>
          <p:nvPr/>
        </p:nvSpPr>
        <p:spPr>
          <a:xfrm>
            <a:off x="502920" y="5257800"/>
            <a:ext cx="3251200" cy="274320"/>
          </a:xfrm>
          <a:prstGeom prst="rect">
            <a:avLst/>
          </a:prstGeom>
          <a:noFill/>
          <a:ln/>
        </p:spPr>
        <p:txBody>
          <a:bodyPr wrap="square" lIns="0" tIns="0" rIns="0" bIns="0" rtlCol="0" anchor="ctr"/>
          <a:lstStyle/>
          <a:p>
            <a:pPr indent="0" marL="0">
              <a:buNone/>
            </a:pPr>
            <a:r>
              <a:rPr lang="en-US" sz="1000" i="1" dirty="0">
                <a:solidFill>
                  <a:srgbClr val="5C6F94"/>
                </a:solidFill>
                <a:latin typeface="Calibri" pitchFamily="34" charset="0"/>
                <a:ea typeface="Calibri" pitchFamily="34" charset="-122"/>
                <a:cs typeface="Calibri" pitchFamily="34" charset="-120"/>
              </a:rPr>
              <a:t>Figure 2 — tiny-4ag-v2 v3 pilot dashboard.</a:t>
            </a:r>
            <a:endParaRPr lang="en-US" sz="1000" dirty="0"/>
          </a:p>
        </p:txBody>
      </p:sp>
      <p:sp>
        <p:nvSpPr>
          <p:cNvPr id="9" name="Text 6"/>
          <p:cNvSpPr/>
          <p:nvPr/>
        </p:nvSpPr>
        <p:spPr>
          <a:xfrm>
            <a:off x="4119880" y="1554480"/>
            <a:ext cx="761461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Crowding inverts the dropout sign</a:t>
            </a:r>
            <a:endParaRPr lang="en-US" sz="1400" dirty="0"/>
          </a:p>
        </p:txBody>
      </p:sp>
      <p:sp>
        <p:nvSpPr>
          <p:cNvPr id="10" name="Text 7"/>
          <p:cNvSpPr/>
          <p:nvPr/>
        </p:nvSpPr>
        <p:spPr>
          <a:xfrm>
            <a:off x="4119880" y="1920240"/>
            <a:ext cx="7614615" cy="2468880"/>
          </a:xfrm>
          <a:prstGeom prst="rect">
            <a:avLst/>
          </a:prstGeom>
          <a:noFill/>
          <a:ln/>
        </p:spPr>
        <p:txBody>
          <a:bodyPr wrap="square" lIns="50800" tIns="50800" rIns="50800" bIns="50800" rtlCol="0" anchor="t"/>
          <a:lstStyle/>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Removing one of four agents on a 7×7 grid reduces collision pressure on survivors.</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Eval throughput can rise even though the team is objectively weaker.</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Train curves disagree: dropout reduces shaped-train return ≈ 29% (hb-only).</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Same artifact survives noise reduction; it is real, not a measurement error.</a:t>
            </a:r>
            <a:endParaRPr lang="en-US" sz="1500" dirty="0"/>
          </a:p>
        </p:txBody>
      </p:sp>
      <p:sp>
        <p:nvSpPr>
          <p:cNvPr id="11" name="Shape 8"/>
          <p:cNvSpPr/>
          <p:nvPr/>
        </p:nvSpPr>
        <p:spPr>
          <a:xfrm>
            <a:off x="4119880" y="4572000"/>
            <a:ext cx="7614615" cy="1280160"/>
          </a:xfrm>
          <a:prstGeom prst="rect">
            <a:avLst/>
          </a:prstGeom>
          <a:solidFill>
            <a:srgbClr val="F4F6FB"/>
          </a:solidFill>
          <a:ln w="9525">
            <a:solidFill>
              <a:srgbClr val="CADCFC"/>
            </a:solidFill>
            <a:prstDash val="solid"/>
          </a:ln>
        </p:spPr>
      </p:sp>
      <p:sp>
        <p:nvSpPr>
          <p:cNvPr id="12" name="Shape 9"/>
          <p:cNvSpPr/>
          <p:nvPr/>
        </p:nvSpPr>
        <p:spPr>
          <a:xfrm>
            <a:off x="4119880" y="4572000"/>
            <a:ext cx="73152" cy="1280160"/>
          </a:xfrm>
          <a:prstGeom prst="rect">
            <a:avLst/>
          </a:prstGeom>
          <a:solidFill>
            <a:srgbClr val="E8A33D"/>
          </a:solidFill>
          <a:ln/>
        </p:spPr>
      </p:sp>
      <p:sp>
        <p:nvSpPr>
          <p:cNvPr id="13" name="Text 10"/>
          <p:cNvSpPr/>
          <p:nvPr/>
        </p:nvSpPr>
        <p:spPr>
          <a:xfrm>
            <a:off x="4302760" y="4572000"/>
            <a:ext cx="7340295" cy="12801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Field warning. </a:t>
            </a:r>
            <a:pPr indent="0" marL="0">
              <a:buNone/>
            </a:pPr>
            <a:r>
              <a:rPr lang="en-US" sz="1300" i="1" dirty="0">
                <a:solidFill>
                  <a:srgbClr val="1A1A1A"/>
                </a:solidFill>
                <a:latin typeface="Calibri" pitchFamily="34" charset="0"/>
                <a:ea typeface="Calibri" pitchFamily="34" charset="-122"/>
                <a:cs typeface="Calibri" pitchFamily="34" charset="-120"/>
              </a:rPr>
              <a:t>This is a benchmarking lesson, not a model limitation. Headroom checks must precede comm claims.</a:t>
            </a:r>
            <a:endParaRPr lang="en-US" sz="1300" dirty="0"/>
          </a:p>
        </p:txBody>
      </p:sp>
      <p:sp>
        <p:nvSpPr>
          <p:cNvPr id="14" name="Shape 11"/>
          <p:cNvSpPr/>
          <p:nvPr/>
        </p:nvSpPr>
        <p:spPr>
          <a:xfrm>
            <a:off x="502920" y="5943600"/>
            <a:ext cx="11185855" cy="502920"/>
          </a:xfrm>
          <a:prstGeom prst="rect">
            <a:avLst/>
          </a:prstGeom>
          <a:solidFill>
            <a:srgbClr val="F4F6FB"/>
          </a:solidFill>
          <a:ln w="9525">
            <a:solidFill>
              <a:srgbClr val="CADCFC"/>
            </a:solidFill>
            <a:prstDash val="solid"/>
          </a:ln>
        </p:spPr>
      </p:sp>
      <p:sp>
        <p:nvSpPr>
          <p:cNvPr id="15" name="Shape 12"/>
          <p:cNvSpPr/>
          <p:nvPr/>
        </p:nvSpPr>
        <p:spPr>
          <a:xfrm>
            <a:off x="502920" y="5943600"/>
            <a:ext cx="73152" cy="502920"/>
          </a:xfrm>
          <a:prstGeom prst="rect">
            <a:avLst/>
          </a:prstGeom>
          <a:solidFill>
            <a:srgbClr val="E8A33D"/>
          </a:solidFill>
          <a:ln/>
        </p:spPr>
      </p:sp>
      <p:sp>
        <p:nvSpPr>
          <p:cNvPr id="16" name="Text 13"/>
          <p:cNvSpPr/>
          <p:nvPr/>
        </p:nvSpPr>
        <p:spPr>
          <a:xfrm>
            <a:off x="713232" y="5943600"/>
            <a:ext cx="10911535" cy="5029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Speaker note: </a:t>
            </a:r>
            <a:pPr indent="0" marL="0">
              <a:buNone/>
            </a:pPr>
            <a:r>
              <a:rPr lang="en-US" sz="1100" i="1" dirty="0">
                <a:solidFill>
                  <a:srgbClr val="1A1A1A"/>
                </a:solidFill>
                <a:latin typeface="Calibri" pitchFamily="34" charset="0"/>
                <a:ea typeface="Calibri" pitchFamily="34" charset="-122"/>
                <a:cs typeface="Calibri" pitchFamily="34" charset="-120"/>
              </a:rPr>
              <a:t>On crowded maps, dropout can fake performance gains; we explicitly control for this with bigger maps and 2-agent diagnostics.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E2761"/>
          </a:solidFill>
          <a:ln/>
        </p:spPr>
      </p:sp>
      <p:sp>
        <p:nvSpPr>
          <p:cNvPr id="3" name="Text 1"/>
          <p:cNvSpPr/>
          <p:nvPr/>
        </p:nvSpPr>
        <p:spPr>
          <a:xfrm>
            <a:off x="411480" y="6537960"/>
            <a:ext cx="7772400" cy="228600"/>
          </a:xfrm>
          <a:prstGeom prst="rect">
            <a:avLst/>
          </a:prstGeom>
          <a:noFill/>
          <a:ln/>
        </p:spPr>
        <p:txBody>
          <a:bodyPr wrap="square" lIns="0" tIns="0" rIns="0" bIns="0" rtlCol="0" anchor="ctr"/>
          <a:lstStyle/>
          <a:p>
            <a:pPr indent="0" marL="0">
              <a:buNone/>
            </a:pPr>
            <a:r>
              <a:rPr lang="en-US" sz="900" dirty="0">
                <a:solidFill>
                  <a:srgbClr val="5C6F94"/>
                </a:solidFill>
                <a:latin typeface="Calibri" pitchFamily="34" charset="0"/>
                <a:ea typeface="Calibri" pitchFamily="34" charset="-122"/>
                <a:cs typeface="Calibri" pitchFamily="34" charset="-120"/>
              </a:rPr>
              <a:t>Communication Under Delayed Liveness</a:t>
            </a:r>
            <a:pPr indent="0" marL="0">
              <a:buNone/>
            </a:pPr>
            <a:r>
              <a:rPr lang="en-US" sz="900" dirty="0">
                <a:solidFill>
                  <a:srgbClr val="B9C4DA"/>
                </a:solidFill>
                <a:latin typeface="Calibri" pitchFamily="34" charset="0"/>
                <a:ea typeface="Calibri" pitchFamily="34" charset="-122"/>
                <a:cs typeface="Calibri" pitchFamily="34" charset="-120"/>
              </a:rPr>
              <a:t>   |   </a:t>
            </a:r>
            <a:pPr indent="0" marL="0">
              <a:buNone/>
            </a:pPr>
            <a:r>
              <a:rPr lang="en-US" sz="900" i="1" dirty="0">
                <a:solidFill>
                  <a:srgbClr val="5C6F94"/>
                </a:solidFill>
                <a:latin typeface="Calibri" pitchFamily="34" charset="0"/>
                <a:ea typeface="Calibri" pitchFamily="34" charset="-122"/>
                <a:cs typeface="Calibri" pitchFamily="34" charset="-120"/>
              </a:rPr>
              <a:t>Cooperative MARL · RWARE</a:t>
            </a:r>
            <a:endParaRPr lang="en-US" sz="900" dirty="0"/>
          </a:p>
        </p:txBody>
      </p:sp>
      <p:sp>
        <p:nvSpPr>
          <p:cNvPr id="4" name="Text 2"/>
          <p:cNvSpPr/>
          <p:nvPr/>
        </p:nvSpPr>
        <p:spPr>
          <a:xfrm>
            <a:off x="11094415" y="6537960"/>
            <a:ext cx="822960" cy="228600"/>
          </a:xfrm>
          <a:prstGeom prst="rect">
            <a:avLst/>
          </a:prstGeom>
          <a:noFill/>
          <a:ln/>
        </p:spPr>
        <p:txBody>
          <a:bodyPr wrap="square" lIns="0" tIns="0" rIns="0" bIns="0" rtlCol="0" anchor="ctr"/>
          <a:lstStyle/>
          <a:p>
            <a:pPr algn="r" indent="0" marL="0">
              <a:buNone/>
            </a:pPr>
            <a:r>
              <a:rPr lang="en-US" sz="900" dirty="0">
                <a:solidFill>
                  <a:srgbClr val="5C6F94"/>
                </a:solidFill>
                <a:latin typeface="Calibri" pitchFamily="34" charset="0"/>
                <a:ea typeface="Calibri" pitchFamily="34" charset="-122"/>
                <a:cs typeface="Calibri" pitchFamily="34" charset="-120"/>
              </a:rPr>
              <a:t>8 / 13</a:t>
            </a:r>
            <a:endParaRPr lang="en-US" sz="900" dirty="0"/>
          </a:p>
        </p:txBody>
      </p:sp>
      <p:sp>
        <p:nvSpPr>
          <p:cNvPr id="5" name="Text 3"/>
          <p:cNvSpPr/>
          <p:nvPr/>
        </p:nvSpPr>
        <p:spPr>
          <a:xfrm>
            <a:off x="502920" y="292608"/>
            <a:ext cx="10972800" cy="292608"/>
          </a:xfrm>
          <a:prstGeom prst="rect">
            <a:avLst/>
          </a:prstGeom>
          <a:noFill/>
          <a:ln/>
        </p:spPr>
        <p:txBody>
          <a:bodyPr wrap="square" lIns="0" tIns="0" rIns="0" bIns="0" rtlCol="0" anchor="ctr"/>
          <a:lstStyle/>
          <a:p>
            <a:pPr indent="0" marL="0">
              <a:buNone/>
            </a:pPr>
            <a:r>
              <a:rPr lang="en-US" sz="1100" b="1" spc="400" kern="0" dirty="0">
                <a:solidFill>
                  <a:srgbClr val="E8A33D"/>
                </a:solidFill>
                <a:latin typeface="Calibri" pitchFamily="34" charset="0"/>
                <a:ea typeface="Calibri" pitchFamily="34" charset="-122"/>
                <a:cs typeface="Calibri" pitchFamily="34" charset="-120"/>
              </a:rPr>
              <a:t>MECHANISM I</a:t>
            </a:r>
            <a:endParaRPr lang="en-US" sz="1100" dirty="0"/>
          </a:p>
        </p:txBody>
      </p:sp>
      <p:sp>
        <p:nvSpPr>
          <p:cNvPr id="6" name="Text 4"/>
          <p:cNvSpPr/>
          <p:nvPr/>
        </p:nvSpPr>
        <p:spPr>
          <a:xfrm>
            <a:off x="502920" y="566928"/>
            <a:ext cx="11338560" cy="868680"/>
          </a:xfrm>
          <a:prstGeom prst="rect">
            <a:avLst/>
          </a:prstGeom>
          <a:noFill/>
          <a:ln/>
        </p:spPr>
        <p:txBody>
          <a:bodyPr wrap="square" lIns="0" tIns="0" rIns="0" bIns="0" rtlCol="0" anchor="t"/>
          <a:lstStyle/>
          <a:p>
            <a:pPr indent="0" marL="0">
              <a:buNone/>
            </a:pPr>
            <a:r>
              <a:rPr lang="en-US" sz="2800" b="1" dirty="0">
                <a:solidFill>
                  <a:srgbClr val="1E2761"/>
                </a:solidFill>
                <a:latin typeface="Calibri" pitchFamily="34" charset="0"/>
                <a:ea typeface="Calibri" pitchFamily="34" charset="-122"/>
                <a:cs typeface="Calibri" pitchFamily="34" charset="-120"/>
              </a:rPr>
              <a:t>Why messages do not help — they often stay near-random (weak grounding)</a:t>
            </a:r>
            <a:endParaRPr lang="en-US" sz="2800" dirty="0"/>
          </a:p>
        </p:txBody>
      </p:sp>
      <p:pic>
        <p:nvPicPr>
          <p:cNvPr id="7" name="Image 0" descr="/sessions/gifted-wonderful-hopper/mnt/outputs/figs/per_seed_dynamics.png">    </p:cNvPr>
          <p:cNvPicPr>
            <a:picLocks noChangeAspect="1"/>
          </p:cNvPicPr>
          <p:nvPr/>
        </p:nvPicPr>
        <p:blipFill>
          <a:blip r:embed="rId1"/>
          <a:stretch>
            <a:fillRect/>
          </a:stretch>
        </p:blipFill>
        <p:spPr>
          <a:xfrm>
            <a:off x="502920" y="1417320"/>
            <a:ext cx="5961666" cy="2743200"/>
          </a:xfrm>
          <a:prstGeom prst="rect">
            <a:avLst/>
          </a:prstGeom>
        </p:spPr>
      </p:pic>
      <p:sp>
        <p:nvSpPr>
          <p:cNvPr id="8" name="Text 5"/>
          <p:cNvSpPr/>
          <p:nvPr/>
        </p:nvSpPr>
        <p:spPr>
          <a:xfrm>
            <a:off x="502920" y="4178808"/>
            <a:ext cx="5961666" cy="228600"/>
          </a:xfrm>
          <a:prstGeom prst="rect">
            <a:avLst/>
          </a:prstGeom>
          <a:noFill/>
          <a:ln/>
        </p:spPr>
        <p:txBody>
          <a:bodyPr wrap="square" lIns="0" tIns="0" rIns="0" bIns="0" rtlCol="0" anchor="ctr"/>
          <a:lstStyle/>
          <a:p>
            <a:pPr indent="0" marL="0">
              <a:buNone/>
            </a:pPr>
            <a:r>
              <a:rPr lang="en-US" sz="1000" i="1" dirty="0">
                <a:solidFill>
                  <a:srgbClr val="5C6F94"/>
                </a:solidFill>
                <a:latin typeface="Calibri" pitchFamily="34" charset="0"/>
                <a:ea typeface="Calibri" pitchFamily="34" charset="-122"/>
                <a:cs typeface="Calibri" pitchFamily="34" charset="-120"/>
              </a:rPr>
              <a:t>Figure 3 — per-seed dynamics. Top row: shaped-train return; bottom row: estimated message entropy.</a:t>
            </a:r>
            <a:endParaRPr lang="en-US" sz="1000" dirty="0"/>
          </a:p>
        </p:txBody>
      </p:sp>
      <p:sp>
        <p:nvSpPr>
          <p:cNvPr id="9" name="Shape 6"/>
          <p:cNvSpPr/>
          <p:nvPr/>
        </p:nvSpPr>
        <p:spPr>
          <a:xfrm>
            <a:off x="6784626" y="1417320"/>
            <a:ext cx="4949870" cy="2743200"/>
          </a:xfrm>
          <a:prstGeom prst="rect">
            <a:avLst/>
          </a:prstGeom>
          <a:solidFill>
            <a:srgbClr val="F4F6FB"/>
          </a:solidFill>
          <a:ln w="9525">
            <a:solidFill>
              <a:srgbClr val="CADCFC"/>
            </a:solidFill>
            <a:prstDash val="solid"/>
          </a:ln>
        </p:spPr>
      </p:sp>
      <p:sp>
        <p:nvSpPr>
          <p:cNvPr id="10" name="Shape 7"/>
          <p:cNvSpPr/>
          <p:nvPr/>
        </p:nvSpPr>
        <p:spPr>
          <a:xfrm>
            <a:off x="6784626" y="1417320"/>
            <a:ext cx="73152" cy="2743200"/>
          </a:xfrm>
          <a:prstGeom prst="rect">
            <a:avLst/>
          </a:prstGeom>
          <a:solidFill>
            <a:srgbClr val="E8A33D"/>
          </a:solidFill>
          <a:ln/>
        </p:spPr>
      </p:sp>
      <p:sp>
        <p:nvSpPr>
          <p:cNvPr id="11" name="Text 8"/>
          <p:cNvSpPr/>
          <p:nvPr/>
        </p:nvSpPr>
        <p:spPr>
          <a:xfrm>
            <a:off x="6967506" y="1508760"/>
            <a:ext cx="467555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Observation</a:t>
            </a:r>
            <a:endParaRPr lang="en-US" sz="1300" dirty="0"/>
          </a:p>
        </p:txBody>
      </p:sp>
      <p:sp>
        <p:nvSpPr>
          <p:cNvPr id="12" name="Text 9"/>
          <p:cNvSpPr/>
          <p:nvPr/>
        </p:nvSpPr>
        <p:spPr>
          <a:xfrm>
            <a:off x="6967506" y="1783080"/>
            <a:ext cx="4675550" cy="91440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hb+comm message-entropy ratio stays close to a uniform-token baseline.</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No stable codebook emerges; tokens remain near-random across seeds.</a:t>
            </a:r>
            <a:endParaRPr lang="en-US" sz="1200" dirty="0"/>
          </a:p>
        </p:txBody>
      </p:sp>
      <p:sp>
        <p:nvSpPr>
          <p:cNvPr id="13" name="Text 10"/>
          <p:cNvSpPr/>
          <p:nvPr/>
        </p:nvSpPr>
        <p:spPr>
          <a:xfrm>
            <a:off x="6967506" y="2788920"/>
            <a:ext cx="467555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Interpretation</a:t>
            </a:r>
            <a:endParaRPr lang="en-US" sz="1300" dirty="0"/>
          </a:p>
        </p:txBody>
      </p:sp>
      <p:sp>
        <p:nvSpPr>
          <p:cNvPr id="14" name="Text 11"/>
          <p:cNvSpPr/>
          <p:nvPr/>
        </p:nvSpPr>
        <p:spPr>
          <a:xfrm>
            <a:off x="6967506" y="3108960"/>
            <a:ext cx="4675550" cy="100584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High entropy is a proxy for “not using the channel.”</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Effectively a hb-only baseline plus extra optimization noise.</a:t>
            </a:r>
            <a:endParaRPr lang="en-US" sz="1200" dirty="0"/>
          </a:p>
        </p:txBody>
      </p:sp>
      <p:sp>
        <p:nvSpPr>
          <p:cNvPr id="15" name="Shape 12"/>
          <p:cNvSpPr/>
          <p:nvPr/>
        </p:nvSpPr>
        <p:spPr>
          <a:xfrm>
            <a:off x="502920" y="4617720"/>
            <a:ext cx="11185855" cy="1188720"/>
          </a:xfrm>
          <a:prstGeom prst="rect">
            <a:avLst/>
          </a:prstGeom>
          <a:solidFill>
            <a:srgbClr val="F4F6FB"/>
          </a:solidFill>
          <a:ln w="9525">
            <a:solidFill>
              <a:srgbClr val="CADCFC"/>
            </a:solidFill>
            <a:prstDash val="solid"/>
          </a:ln>
        </p:spPr>
      </p:sp>
      <p:sp>
        <p:nvSpPr>
          <p:cNvPr id="16" name="Shape 13"/>
          <p:cNvSpPr/>
          <p:nvPr/>
        </p:nvSpPr>
        <p:spPr>
          <a:xfrm>
            <a:off x="502920" y="4617720"/>
            <a:ext cx="73152" cy="1188720"/>
          </a:xfrm>
          <a:prstGeom prst="rect">
            <a:avLst/>
          </a:prstGeom>
          <a:solidFill>
            <a:srgbClr val="E8A33D"/>
          </a:solidFill>
          <a:ln/>
        </p:spPr>
      </p:sp>
      <p:sp>
        <p:nvSpPr>
          <p:cNvPr id="17" name="Text 14"/>
          <p:cNvSpPr/>
          <p:nvPr/>
        </p:nvSpPr>
        <p:spPr>
          <a:xfrm>
            <a:off x="713232" y="4663440"/>
            <a:ext cx="10911535" cy="10972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Why this matters. </a:t>
            </a:r>
            <a:pPr indent="0" marL="0">
              <a:buNone/>
            </a:pPr>
            <a:r>
              <a:rPr lang="en-US" sz="1300" i="1" dirty="0">
                <a:solidFill>
                  <a:srgbClr val="1A1A1A"/>
                </a:solidFill>
                <a:latin typeface="Calibri" pitchFamily="34" charset="0"/>
                <a:ea typeface="Calibri" pitchFamily="34" charset="-122"/>
                <a:cs typeface="Calibri" pitchFamily="34" charset="-120"/>
              </a:rPr>
              <a:t>Message entropy is not a vibe metric — it is a behavioural proxy for whether the policy actually relies on its own messages. Treat it as a first-order grounding diagnostic.</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E2761"/>
          </a:solidFill>
          <a:ln/>
        </p:spPr>
      </p:sp>
      <p:sp>
        <p:nvSpPr>
          <p:cNvPr id="3" name="Text 1"/>
          <p:cNvSpPr/>
          <p:nvPr/>
        </p:nvSpPr>
        <p:spPr>
          <a:xfrm>
            <a:off x="411480" y="6537960"/>
            <a:ext cx="7772400" cy="228600"/>
          </a:xfrm>
          <a:prstGeom prst="rect">
            <a:avLst/>
          </a:prstGeom>
          <a:noFill/>
          <a:ln/>
        </p:spPr>
        <p:txBody>
          <a:bodyPr wrap="square" lIns="0" tIns="0" rIns="0" bIns="0" rtlCol="0" anchor="ctr"/>
          <a:lstStyle/>
          <a:p>
            <a:pPr indent="0" marL="0">
              <a:buNone/>
            </a:pPr>
            <a:r>
              <a:rPr lang="en-US" sz="900" dirty="0">
                <a:solidFill>
                  <a:srgbClr val="5C6F94"/>
                </a:solidFill>
                <a:latin typeface="Calibri" pitchFamily="34" charset="0"/>
                <a:ea typeface="Calibri" pitchFamily="34" charset="-122"/>
                <a:cs typeface="Calibri" pitchFamily="34" charset="-120"/>
              </a:rPr>
              <a:t>Communication Under Delayed Liveness</a:t>
            </a:r>
            <a:pPr indent="0" marL="0">
              <a:buNone/>
            </a:pPr>
            <a:r>
              <a:rPr lang="en-US" sz="900" dirty="0">
                <a:solidFill>
                  <a:srgbClr val="B9C4DA"/>
                </a:solidFill>
                <a:latin typeface="Calibri" pitchFamily="34" charset="0"/>
                <a:ea typeface="Calibri" pitchFamily="34" charset="-122"/>
                <a:cs typeface="Calibri" pitchFamily="34" charset="-120"/>
              </a:rPr>
              <a:t>   |   </a:t>
            </a:r>
            <a:pPr indent="0" marL="0">
              <a:buNone/>
            </a:pPr>
            <a:r>
              <a:rPr lang="en-US" sz="900" i="1" dirty="0">
                <a:solidFill>
                  <a:srgbClr val="5C6F94"/>
                </a:solidFill>
                <a:latin typeface="Calibri" pitchFamily="34" charset="0"/>
                <a:ea typeface="Calibri" pitchFamily="34" charset="-122"/>
                <a:cs typeface="Calibri" pitchFamily="34" charset="-120"/>
              </a:rPr>
              <a:t>Cooperative MARL · RWARE</a:t>
            </a:r>
            <a:endParaRPr lang="en-US" sz="900" dirty="0"/>
          </a:p>
        </p:txBody>
      </p:sp>
      <p:sp>
        <p:nvSpPr>
          <p:cNvPr id="4" name="Text 2"/>
          <p:cNvSpPr/>
          <p:nvPr/>
        </p:nvSpPr>
        <p:spPr>
          <a:xfrm>
            <a:off x="11094415" y="6537960"/>
            <a:ext cx="822960" cy="228600"/>
          </a:xfrm>
          <a:prstGeom prst="rect">
            <a:avLst/>
          </a:prstGeom>
          <a:noFill/>
          <a:ln/>
        </p:spPr>
        <p:txBody>
          <a:bodyPr wrap="square" lIns="0" tIns="0" rIns="0" bIns="0" rtlCol="0" anchor="ctr"/>
          <a:lstStyle/>
          <a:p>
            <a:pPr algn="r" indent="0" marL="0">
              <a:buNone/>
            </a:pPr>
            <a:r>
              <a:rPr lang="en-US" sz="900" dirty="0">
                <a:solidFill>
                  <a:srgbClr val="5C6F94"/>
                </a:solidFill>
                <a:latin typeface="Calibri" pitchFamily="34" charset="0"/>
                <a:ea typeface="Calibri" pitchFamily="34" charset="-122"/>
                <a:cs typeface="Calibri" pitchFamily="34" charset="-120"/>
              </a:rPr>
              <a:t>9 / 13</a:t>
            </a:r>
            <a:endParaRPr lang="en-US" sz="900" dirty="0"/>
          </a:p>
        </p:txBody>
      </p:sp>
      <p:sp>
        <p:nvSpPr>
          <p:cNvPr id="5" name="Text 3"/>
          <p:cNvSpPr/>
          <p:nvPr/>
        </p:nvSpPr>
        <p:spPr>
          <a:xfrm>
            <a:off x="502920" y="292608"/>
            <a:ext cx="10972800" cy="292608"/>
          </a:xfrm>
          <a:prstGeom prst="rect">
            <a:avLst/>
          </a:prstGeom>
          <a:noFill/>
          <a:ln/>
        </p:spPr>
        <p:txBody>
          <a:bodyPr wrap="square" lIns="0" tIns="0" rIns="0" bIns="0" rtlCol="0" anchor="ctr"/>
          <a:lstStyle/>
          <a:p>
            <a:pPr indent="0" marL="0">
              <a:buNone/>
            </a:pPr>
            <a:r>
              <a:rPr lang="en-US" sz="1100" b="1" spc="400" kern="0" dirty="0">
                <a:solidFill>
                  <a:srgbClr val="E8A33D"/>
                </a:solidFill>
                <a:latin typeface="Calibri" pitchFamily="34" charset="0"/>
                <a:ea typeface="Calibri" pitchFamily="34" charset="-122"/>
                <a:cs typeface="Calibri" pitchFamily="34" charset="-120"/>
              </a:rPr>
              <a:t>MECHANISM II</a:t>
            </a:r>
            <a:endParaRPr lang="en-US" sz="1100" dirty="0"/>
          </a:p>
        </p:txBody>
      </p:sp>
      <p:sp>
        <p:nvSpPr>
          <p:cNvPr id="6" name="Text 4"/>
          <p:cNvSpPr/>
          <p:nvPr/>
        </p:nvSpPr>
        <p:spPr>
          <a:xfrm>
            <a:off x="502920" y="566928"/>
            <a:ext cx="11338560" cy="868680"/>
          </a:xfrm>
          <a:prstGeom prst="rect">
            <a:avLst/>
          </a:prstGeom>
          <a:noFill/>
          <a:ln/>
        </p:spPr>
        <p:txBody>
          <a:bodyPr wrap="square" lIns="0" tIns="0" rIns="0" bIns="0" rtlCol="0" anchor="t"/>
          <a:lstStyle/>
          <a:p>
            <a:pPr indent="0" marL="0">
              <a:buNone/>
            </a:pPr>
            <a:r>
              <a:rPr lang="en-US" sz="2800" b="1" dirty="0">
                <a:solidFill>
                  <a:srgbClr val="1E2761"/>
                </a:solidFill>
                <a:latin typeface="Calibri" pitchFamily="34" charset="0"/>
                <a:ea typeface="Calibri" pitchFamily="34" charset="-122"/>
                <a:cs typeface="Calibri" pitchFamily="34" charset="-120"/>
              </a:rPr>
              <a:t>If messages are explicit, the channel can carry useful signal</a:t>
            </a:r>
            <a:endParaRPr lang="en-US" sz="2800" dirty="0"/>
          </a:p>
        </p:txBody>
      </p:sp>
      <p:graphicFrame>
        <p:nvGraphicFramePr>
          <p:cNvPr id="7" name="Chart 0" descr=""/>
          <p:cNvGraphicFramePr/>
          <p:nvPr/>
        </p:nvGraphicFramePr>
        <p:xfrm>
          <a:off x="502920" y="1508760"/>
          <a:ext cx="6949440" cy="41605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02920" y="5715000"/>
            <a:ext cx="6949440" cy="274320"/>
          </a:xfrm>
          <a:prstGeom prst="rect">
            <a:avLst/>
          </a:prstGeom>
          <a:noFill/>
          <a:ln/>
        </p:spPr>
        <p:txBody>
          <a:bodyPr wrap="square" lIns="0" tIns="0" rIns="0" bIns="0" rtlCol="0" anchor="ctr"/>
          <a:lstStyle/>
          <a:p>
            <a:pPr indent="0" marL="0">
              <a:buNone/>
            </a:pPr>
            <a:r>
              <a:rPr lang="en-US" sz="1000" i="1" dirty="0">
                <a:solidFill>
                  <a:srgbClr val="5C6F94"/>
                </a:solidFill>
                <a:latin typeface="Calibri" pitchFamily="34" charset="0"/>
                <a:ea typeface="Calibri" pitchFamily="34" charset="-122"/>
                <a:cs typeface="Calibri" pitchFamily="34" charset="-120"/>
              </a:rPr>
              <a:t>Source: matrix_results/diagnostics_v1_sam/summary.json (n = 4 seeds).</a:t>
            </a:r>
            <a:endParaRPr lang="en-US" sz="1000" dirty="0"/>
          </a:p>
        </p:txBody>
      </p:sp>
      <p:sp>
        <p:nvSpPr>
          <p:cNvPr id="9" name="Shape 6"/>
          <p:cNvSpPr/>
          <p:nvPr/>
        </p:nvSpPr>
        <p:spPr>
          <a:xfrm>
            <a:off x="7680960" y="1554480"/>
            <a:ext cx="4007815" cy="2194560"/>
          </a:xfrm>
          <a:prstGeom prst="rect">
            <a:avLst/>
          </a:prstGeom>
          <a:solidFill>
            <a:srgbClr val="F4F6FB"/>
          </a:solidFill>
          <a:ln w="9525">
            <a:solidFill>
              <a:srgbClr val="CADCFC"/>
            </a:solidFill>
            <a:prstDash val="solid"/>
          </a:ln>
        </p:spPr>
      </p:sp>
      <p:sp>
        <p:nvSpPr>
          <p:cNvPr id="10" name="Text 7"/>
          <p:cNvSpPr/>
          <p:nvPr/>
        </p:nvSpPr>
        <p:spPr>
          <a:xfrm>
            <a:off x="7845552" y="1627632"/>
            <a:ext cx="373349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Derived contrasts</a:t>
            </a:r>
            <a:endParaRPr lang="en-US" sz="1300" dirty="0"/>
          </a:p>
        </p:txBody>
      </p:sp>
      <p:sp>
        <p:nvSpPr>
          <p:cNvPr id="11" name="Text 8"/>
          <p:cNvSpPr/>
          <p:nvPr/>
        </p:nvSpPr>
        <p:spPr>
          <a:xfrm>
            <a:off x="7845552" y="2011680"/>
            <a:ext cx="3733495" cy="1554480"/>
          </a:xfrm>
          <a:prstGeom prst="rect">
            <a:avLst/>
          </a:prstGeom>
          <a:noFill/>
          <a:ln/>
        </p:spPr>
        <p:txBody>
          <a:bodyPr wrap="square" lIns="0" tIns="0" rIns="0" bIns="0" rtlCol="0" anchor="t"/>
          <a:lstStyle/>
          <a:p>
            <a:pPr indent="0" marL="0">
              <a:spcAft>
                <a:spcPts val="800"/>
              </a:spcAft>
              <a:buNone/>
            </a:pPr>
            <a:r>
              <a:rPr lang="en-US" sz="1300" dirty="0">
                <a:solidFill>
                  <a:srgbClr val="1A1A1A"/>
                </a:solidFill>
                <a:latin typeface="Calibri" pitchFamily="34" charset="0"/>
                <a:ea typeface="Calibri" pitchFamily="34" charset="-122"/>
                <a:cs typeface="Calibri" pitchFamily="34" charset="-120"/>
              </a:rPr>
              <a:t>Oracle − learned comm: </a:t>
            </a:r>
            <a:pPr indent="0" marL="0">
              <a:spcAft>
                <a:spcPts val="800"/>
              </a:spcAft>
              <a:buNone/>
            </a:pPr>
            <a:r>
              <a:rPr lang="en-US" sz="1400" b="1" dirty="0">
                <a:solidFill>
                  <a:srgbClr val="0E6E5C"/>
                </a:solidFill>
                <a:latin typeface="Calibri" pitchFamily="34" charset="0"/>
                <a:ea typeface="Calibri" pitchFamily="34" charset="-122"/>
                <a:cs typeface="Calibri" pitchFamily="34" charset="-120"/>
              </a:rPr>
              <a:t>+2.55</a:t>
            </a:r>
            <a:endParaRPr lang="en-US" sz="1300" dirty="0"/>
          </a:p>
          <a:p>
            <a:pPr indent="0" marL="0">
              <a:spcAft>
                <a:spcPts val="800"/>
              </a:spcAft>
              <a:buNone/>
            </a:pPr>
            <a:r>
              <a:rPr lang="en-US" sz="1300" dirty="0">
                <a:solidFill>
                  <a:srgbClr val="1A1A1A"/>
                </a:solidFill>
                <a:latin typeface="Calibri" pitchFamily="34" charset="0"/>
                <a:ea typeface="Calibri" pitchFamily="34" charset="-122"/>
                <a:cs typeface="Calibri" pitchFamily="34" charset="-120"/>
              </a:rPr>
              <a:t>Oracle − heartbeat-only: </a:t>
            </a:r>
            <a:pPr indent="0" marL="0">
              <a:spcAft>
                <a:spcPts val="800"/>
              </a:spcAft>
              <a:buNone/>
            </a:pPr>
            <a:r>
              <a:rPr lang="en-US" sz="1400" b="1" dirty="0">
                <a:solidFill>
                  <a:srgbClr val="8E1C1C"/>
                </a:solidFill>
                <a:latin typeface="Calibri" pitchFamily="34" charset="0"/>
                <a:ea typeface="Calibri" pitchFamily="34" charset="-122"/>
                <a:cs typeface="Calibri" pitchFamily="34" charset="-120"/>
              </a:rPr>
              <a:t>−1.75</a:t>
            </a:r>
            <a:endParaRPr lang="en-US" sz="1300" dirty="0"/>
          </a:p>
        </p:txBody>
      </p:sp>
      <p:sp>
        <p:nvSpPr>
          <p:cNvPr id="12" name="Shape 9"/>
          <p:cNvSpPr/>
          <p:nvPr/>
        </p:nvSpPr>
        <p:spPr>
          <a:xfrm>
            <a:off x="7680960" y="3886200"/>
            <a:ext cx="4007815" cy="2194560"/>
          </a:xfrm>
          <a:prstGeom prst="rect">
            <a:avLst/>
          </a:prstGeom>
          <a:solidFill>
            <a:srgbClr val="F4F6FB"/>
          </a:solidFill>
          <a:ln w="9525">
            <a:solidFill>
              <a:srgbClr val="CADCFC"/>
            </a:solidFill>
            <a:prstDash val="solid"/>
          </a:ln>
        </p:spPr>
      </p:sp>
      <p:sp>
        <p:nvSpPr>
          <p:cNvPr id="13" name="Text 10"/>
          <p:cNvSpPr/>
          <p:nvPr/>
        </p:nvSpPr>
        <p:spPr>
          <a:xfrm>
            <a:off x="7845552" y="3959352"/>
            <a:ext cx="373349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What this separates</a:t>
            </a:r>
            <a:endParaRPr lang="en-US" sz="1300" dirty="0"/>
          </a:p>
        </p:txBody>
      </p:sp>
      <p:sp>
        <p:nvSpPr>
          <p:cNvPr id="14" name="Text 11"/>
          <p:cNvSpPr/>
          <p:nvPr/>
        </p:nvSpPr>
        <p:spPr>
          <a:xfrm>
            <a:off x="7845552" y="4297680"/>
            <a:ext cx="3687775" cy="169164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Information CAN flow through this channel.</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The learned recipe does NOT produce usable symbols.</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Control / execution remains the dominant bottleneck.</a:t>
            </a:r>
            <a:endParaRPr lang="en-US" sz="1200" dirty="0"/>
          </a:p>
        </p:txBody>
      </p:sp>
      <p:sp>
        <p:nvSpPr>
          <p:cNvPr id="15" name="Shape 12"/>
          <p:cNvSpPr/>
          <p:nvPr/>
        </p:nvSpPr>
        <p:spPr>
          <a:xfrm>
            <a:off x="502920" y="5943600"/>
            <a:ext cx="11185855" cy="502920"/>
          </a:xfrm>
          <a:prstGeom prst="rect">
            <a:avLst/>
          </a:prstGeom>
          <a:solidFill>
            <a:srgbClr val="F4F6FB"/>
          </a:solidFill>
          <a:ln w="9525">
            <a:solidFill>
              <a:srgbClr val="CADCFC"/>
            </a:solidFill>
            <a:prstDash val="solid"/>
          </a:ln>
        </p:spPr>
      </p:sp>
      <p:sp>
        <p:nvSpPr>
          <p:cNvPr id="16" name="Shape 13"/>
          <p:cNvSpPr/>
          <p:nvPr/>
        </p:nvSpPr>
        <p:spPr>
          <a:xfrm>
            <a:off x="502920" y="5943600"/>
            <a:ext cx="73152" cy="502920"/>
          </a:xfrm>
          <a:prstGeom prst="rect">
            <a:avLst/>
          </a:prstGeom>
          <a:solidFill>
            <a:srgbClr val="E8A33D"/>
          </a:solidFill>
          <a:ln/>
        </p:spPr>
      </p:sp>
      <p:sp>
        <p:nvSpPr>
          <p:cNvPr id="17" name="Text 14"/>
          <p:cNvSpPr/>
          <p:nvPr/>
        </p:nvSpPr>
        <p:spPr>
          <a:xfrm>
            <a:off x="713232" y="5943600"/>
            <a:ext cx="10911535" cy="5029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Speaker note: </a:t>
            </a:r>
            <a:pPr indent="0" marL="0">
              <a:buNone/>
            </a:pPr>
            <a:r>
              <a:rPr lang="en-US" sz="1100" i="1" dirty="0">
                <a:solidFill>
                  <a:srgbClr val="1A1A1A"/>
                </a:solidFill>
                <a:latin typeface="Calibri" pitchFamily="34" charset="0"/>
                <a:ea typeface="Calibri" pitchFamily="34" charset="-122"/>
                <a:cs typeface="Calibri" pitchFamily="34" charset="-120"/>
              </a:rPr>
              <a:t>Oracle is a diagnostic ceiling, not a deployable method — its purpose is to separate channel capacity from learning failure.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E2761"/>
          </a:solidFill>
          <a:ln/>
        </p:spPr>
      </p:sp>
      <p:sp>
        <p:nvSpPr>
          <p:cNvPr id="3" name="Text 1"/>
          <p:cNvSpPr/>
          <p:nvPr/>
        </p:nvSpPr>
        <p:spPr>
          <a:xfrm>
            <a:off x="411480" y="6537960"/>
            <a:ext cx="7772400" cy="228600"/>
          </a:xfrm>
          <a:prstGeom prst="rect">
            <a:avLst/>
          </a:prstGeom>
          <a:noFill/>
          <a:ln/>
        </p:spPr>
        <p:txBody>
          <a:bodyPr wrap="square" lIns="0" tIns="0" rIns="0" bIns="0" rtlCol="0" anchor="ctr"/>
          <a:lstStyle/>
          <a:p>
            <a:pPr indent="0" marL="0">
              <a:buNone/>
            </a:pPr>
            <a:r>
              <a:rPr lang="en-US" sz="900" dirty="0">
                <a:solidFill>
                  <a:srgbClr val="5C6F94"/>
                </a:solidFill>
                <a:latin typeface="Calibri" pitchFamily="34" charset="0"/>
                <a:ea typeface="Calibri" pitchFamily="34" charset="-122"/>
                <a:cs typeface="Calibri" pitchFamily="34" charset="-120"/>
              </a:rPr>
              <a:t>Communication Under Delayed Liveness</a:t>
            </a:r>
            <a:pPr indent="0" marL="0">
              <a:buNone/>
            </a:pPr>
            <a:r>
              <a:rPr lang="en-US" sz="900" dirty="0">
                <a:solidFill>
                  <a:srgbClr val="B9C4DA"/>
                </a:solidFill>
                <a:latin typeface="Calibri" pitchFamily="34" charset="0"/>
                <a:ea typeface="Calibri" pitchFamily="34" charset="-122"/>
                <a:cs typeface="Calibri" pitchFamily="34" charset="-120"/>
              </a:rPr>
              <a:t>   |   </a:t>
            </a:r>
            <a:pPr indent="0" marL="0">
              <a:buNone/>
            </a:pPr>
            <a:r>
              <a:rPr lang="en-US" sz="900" i="1" dirty="0">
                <a:solidFill>
                  <a:srgbClr val="5C6F94"/>
                </a:solidFill>
                <a:latin typeface="Calibri" pitchFamily="34" charset="0"/>
                <a:ea typeface="Calibri" pitchFamily="34" charset="-122"/>
                <a:cs typeface="Calibri" pitchFamily="34" charset="-120"/>
              </a:rPr>
              <a:t>Cooperative MARL · RWARE</a:t>
            </a:r>
            <a:endParaRPr lang="en-US" sz="900" dirty="0"/>
          </a:p>
        </p:txBody>
      </p:sp>
      <p:sp>
        <p:nvSpPr>
          <p:cNvPr id="4" name="Text 2"/>
          <p:cNvSpPr/>
          <p:nvPr/>
        </p:nvSpPr>
        <p:spPr>
          <a:xfrm>
            <a:off x="11094415" y="6537960"/>
            <a:ext cx="822960" cy="228600"/>
          </a:xfrm>
          <a:prstGeom prst="rect">
            <a:avLst/>
          </a:prstGeom>
          <a:noFill/>
          <a:ln/>
        </p:spPr>
        <p:txBody>
          <a:bodyPr wrap="square" lIns="0" tIns="0" rIns="0" bIns="0" rtlCol="0" anchor="ctr"/>
          <a:lstStyle/>
          <a:p>
            <a:pPr algn="r" indent="0" marL="0">
              <a:buNone/>
            </a:pPr>
            <a:r>
              <a:rPr lang="en-US" sz="900" dirty="0">
                <a:solidFill>
                  <a:srgbClr val="5C6F94"/>
                </a:solidFill>
                <a:latin typeface="Calibri" pitchFamily="34" charset="0"/>
                <a:ea typeface="Calibri" pitchFamily="34" charset="-122"/>
                <a:cs typeface="Calibri" pitchFamily="34" charset="-120"/>
              </a:rPr>
              <a:t>10 / 13</a:t>
            </a:r>
            <a:endParaRPr lang="en-US" sz="900" dirty="0"/>
          </a:p>
        </p:txBody>
      </p:sp>
      <p:sp>
        <p:nvSpPr>
          <p:cNvPr id="5" name="Text 3"/>
          <p:cNvSpPr/>
          <p:nvPr/>
        </p:nvSpPr>
        <p:spPr>
          <a:xfrm>
            <a:off x="502920" y="292608"/>
            <a:ext cx="10972800" cy="292608"/>
          </a:xfrm>
          <a:prstGeom prst="rect">
            <a:avLst/>
          </a:prstGeom>
          <a:noFill/>
          <a:ln/>
        </p:spPr>
        <p:txBody>
          <a:bodyPr wrap="square" lIns="0" tIns="0" rIns="0" bIns="0" rtlCol="0" anchor="ctr"/>
          <a:lstStyle/>
          <a:p>
            <a:pPr indent="0" marL="0">
              <a:buNone/>
            </a:pPr>
            <a:r>
              <a:rPr lang="en-US" sz="1100" b="1" spc="400" kern="0" dirty="0">
                <a:solidFill>
                  <a:srgbClr val="E8A33D"/>
                </a:solidFill>
                <a:latin typeface="Calibri" pitchFamily="34" charset="0"/>
                <a:ea typeface="Calibri" pitchFamily="34" charset="-122"/>
                <a:cs typeface="Calibri" pitchFamily="34" charset="-120"/>
              </a:rPr>
              <a:t>MECHANISM III</a:t>
            </a:r>
            <a:endParaRPr lang="en-US" sz="1100" dirty="0"/>
          </a:p>
        </p:txBody>
      </p:sp>
      <p:sp>
        <p:nvSpPr>
          <p:cNvPr id="6" name="Text 4"/>
          <p:cNvSpPr/>
          <p:nvPr/>
        </p:nvSpPr>
        <p:spPr>
          <a:xfrm>
            <a:off x="502920" y="566928"/>
            <a:ext cx="11338560" cy="868680"/>
          </a:xfrm>
          <a:prstGeom prst="rect">
            <a:avLst/>
          </a:prstGeom>
          <a:noFill/>
          <a:ln/>
        </p:spPr>
        <p:txBody>
          <a:bodyPr wrap="square" lIns="0" tIns="0" rIns="0" bIns="0" rtlCol="0" anchor="t"/>
          <a:lstStyle/>
          <a:p>
            <a:pPr indent="0" marL="0">
              <a:buNone/>
            </a:pPr>
            <a:r>
              <a:rPr lang="en-US" sz="2800" b="1" dirty="0">
                <a:solidFill>
                  <a:srgbClr val="1E2761"/>
                </a:solidFill>
                <a:latin typeface="Calibri" pitchFamily="34" charset="0"/>
                <a:ea typeface="Calibri" pitchFamily="34" charset="-122"/>
                <a:cs typeface="Calibri" pitchFamily="34" charset="-120"/>
              </a:rPr>
              <a:t>Comm does not just add bits — it changes the optimization landscape</a:t>
            </a:r>
            <a:endParaRPr lang="en-US" sz="2800" dirty="0"/>
          </a:p>
        </p:txBody>
      </p:sp>
      <p:sp>
        <p:nvSpPr>
          <p:cNvPr id="7" name="Shape 5"/>
          <p:cNvSpPr/>
          <p:nvPr/>
        </p:nvSpPr>
        <p:spPr>
          <a:xfrm>
            <a:off x="502920" y="1554480"/>
            <a:ext cx="3606698" cy="2286000"/>
          </a:xfrm>
          <a:prstGeom prst="rect">
            <a:avLst/>
          </a:prstGeom>
          <a:solidFill>
            <a:srgbClr val="FFFFFF"/>
          </a:solidFill>
          <a:ln w="9525">
            <a:solidFill>
              <a:srgbClr val="CADCFC"/>
            </a:solidFill>
            <a:prstDash val="solid"/>
          </a:ln>
        </p:spPr>
      </p:sp>
      <p:sp>
        <p:nvSpPr>
          <p:cNvPr id="8" name="Shape 6"/>
          <p:cNvSpPr/>
          <p:nvPr/>
        </p:nvSpPr>
        <p:spPr>
          <a:xfrm>
            <a:off x="502920" y="1554480"/>
            <a:ext cx="3606698" cy="137160"/>
          </a:xfrm>
          <a:prstGeom prst="rect">
            <a:avLst/>
          </a:prstGeom>
          <a:solidFill>
            <a:srgbClr val="E8A33D"/>
          </a:solidFill>
          <a:ln/>
        </p:spPr>
      </p:sp>
      <p:sp>
        <p:nvSpPr>
          <p:cNvPr id="9" name="Text 7"/>
          <p:cNvSpPr/>
          <p:nvPr/>
        </p:nvSpPr>
        <p:spPr>
          <a:xfrm>
            <a:off x="685800" y="1828800"/>
            <a:ext cx="3240938" cy="914400"/>
          </a:xfrm>
          <a:prstGeom prst="rect">
            <a:avLst/>
          </a:prstGeom>
          <a:noFill/>
          <a:ln/>
        </p:spPr>
        <p:txBody>
          <a:bodyPr wrap="square" lIns="0" tIns="0" rIns="0" bIns="0" rtlCol="0" anchor="ctr"/>
          <a:lstStyle/>
          <a:p>
            <a:pPr indent="0" marL="0">
              <a:buNone/>
            </a:pPr>
            <a:r>
              <a:rPr lang="en-US" sz="5600" b="1" dirty="0">
                <a:solidFill>
                  <a:srgbClr val="E8A33D"/>
                </a:solidFill>
                <a:latin typeface="Calibri" pitchFamily="34" charset="0"/>
                <a:ea typeface="Calibri" pitchFamily="34" charset="-122"/>
                <a:cs typeface="Calibri" pitchFamily="34" charset="-120"/>
              </a:rPr>
              <a:t>↑</a:t>
            </a:r>
            <a:endParaRPr lang="en-US" sz="5600" dirty="0"/>
          </a:p>
        </p:txBody>
      </p:sp>
      <p:sp>
        <p:nvSpPr>
          <p:cNvPr id="10" name="Text 8"/>
          <p:cNvSpPr/>
          <p:nvPr/>
        </p:nvSpPr>
        <p:spPr>
          <a:xfrm>
            <a:off x="685800" y="2834640"/>
            <a:ext cx="3240938"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Coefficient of variation</a:t>
            </a:r>
            <a:endParaRPr lang="en-US" sz="1400" dirty="0"/>
          </a:p>
        </p:txBody>
      </p:sp>
      <p:sp>
        <p:nvSpPr>
          <p:cNvPr id="11" name="Text 9"/>
          <p:cNvSpPr/>
          <p:nvPr/>
        </p:nvSpPr>
        <p:spPr>
          <a:xfrm>
            <a:off x="685800" y="3200400"/>
            <a:ext cx="3240938" cy="5943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hb+comm runs show wider seed-to-seed train spread than hb-only.</a:t>
            </a:r>
            <a:endParaRPr lang="en-US" sz="1100" dirty="0"/>
          </a:p>
        </p:txBody>
      </p:sp>
      <p:sp>
        <p:nvSpPr>
          <p:cNvPr id="12" name="Shape 10"/>
          <p:cNvSpPr/>
          <p:nvPr/>
        </p:nvSpPr>
        <p:spPr>
          <a:xfrm>
            <a:off x="4292498" y="1554480"/>
            <a:ext cx="3606698" cy="2286000"/>
          </a:xfrm>
          <a:prstGeom prst="rect">
            <a:avLst/>
          </a:prstGeom>
          <a:solidFill>
            <a:srgbClr val="FFFFFF"/>
          </a:solidFill>
          <a:ln w="9525">
            <a:solidFill>
              <a:srgbClr val="CADCFC"/>
            </a:solidFill>
            <a:prstDash val="solid"/>
          </a:ln>
        </p:spPr>
      </p:sp>
      <p:sp>
        <p:nvSpPr>
          <p:cNvPr id="13" name="Shape 11"/>
          <p:cNvSpPr/>
          <p:nvPr/>
        </p:nvSpPr>
        <p:spPr>
          <a:xfrm>
            <a:off x="4292498" y="1554480"/>
            <a:ext cx="3606698" cy="137160"/>
          </a:xfrm>
          <a:prstGeom prst="rect">
            <a:avLst/>
          </a:prstGeom>
          <a:solidFill>
            <a:srgbClr val="8E1C1C"/>
          </a:solidFill>
          <a:ln/>
        </p:spPr>
      </p:sp>
      <p:sp>
        <p:nvSpPr>
          <p:cNvPr id="14" name="Text 12"/>
          <p:cNvSpPr/>
          <p:nvPr/>
        </p:nvSpPr>
        <p:spPr>
          <a:xfrm>
            <a:off x="4475378" y="1828800"/>
            <a:ext cx="3240938" cy="914400"/>
          </a:xfrm>
          <a:prstGeom prst="rect">
            <a:avLst/>
          </a:prstGeom>
          <a:noFill/>
          <a:ln/>
        </p:spPr>
        <p:txBody>
          <a:bodyPr wrap="square" lIns="0" tIns="0" rIns="0" bIns="0" rtlCol="0" anchor="ctr"/>
          <a:lstStyle/>
          <a:p>
            <a:pPr indent="0" marL="0">
              <a:buNone/>
            </a:pPr>
            <a:r>
              <a:rPr lang="en-US" sz="5600" b="1" dirty="0">
                <a:solidFill>
                  <a:srgbClr val="8E1C1C"/>
                </a:solidFill>
                <a:latin typeface="Calibri" pitchFamily="34" charset="0"/>
                <a:ea typeface="Calibri" pitchFamily="34" charset="-122"/>
                <a:cs typeface="Calibri" pitchFamily="34" charset="-120"/>
              </a:rPr>
              <a:t>≈ 2×</a:t>
            </a:r>
            <a:endParaRPr lang="en-US" sz="5600" dirty="0"/>
          </a:p>
        </p:txBody>
      </p:sp>
      <p:sp>
        <p:nvSpPr>
          <p:cNvPr id="15" name="Text 13"/>
          <p:cNvSpPr/>
          <p:nvPr/>
        </p:nvSpPr>
        <p:spPr>
          <a:xfrm>
            <a:off x="4475378" y="2834640"/>
            <a:ext cx="3240938"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Collapse-like episodes</a:t>
            </a:r>
            <a:endParaRPr lang="en-US" sz="1400" dirty="0"/>
          </a:p>
        </p:txBody>
      </p:sp>
      <p:sp>
        <p:nvSpPr>
          <p:cNvPr id="16" name="Text 14"/>
          <p:cNvSpPr/>
          <p:nvPr/>
        </p:nvSpPr>
        <p:spPr>
          <a:xfrm>
            <a:off x="4475378" y="3200400"/>
            <a:ext cx="3240938" cy="5943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More frequent low-return windows mid-training in hb+comm seeds.</a:t>
            </a:r>
            <a:endParaRPr lang="en-US" sz="1100" dirty="0"/>
          </a:p>
        </p:txBody>
      </p:sp>
      <p:sp>
        <p:nvSpPr>
          <p:cNvPr id="17" name="Shape 15"/>
          <p:cNvSpPr/>
          <p:nvPr/>
        </p:nvSpPr>
        <p:spPr>
          <a:xfrm>
            <a:off x="8082077" y="1554480"/>
            <a:ext cx="3606698" cy="2286000"/>
          </a:xfrm>
          <a:prstGeom prst="rect">
            <a:avLst/>
          </a:prstGeom>
          <a:solidFill>
            <a:srgbClr val="FFFFFF"/>
          </a:solidFill>
          <a:ln w="9525">
            <a:solidFill>
              <a:srgbClr val="CADCFC"/>
            </a:solidFill>
            <a:prstDash val="solid"/>
          </a:ln>
        </p:spPr>
      </p:sp>
      <p:sp>
        <p:nvSpPr>
          <p:cNvPr id="18" name="Shape 16"/>
          <p:cNvSpPr/>
          <p:nvPr/>
        </p:nvSpPr>
        <p:spPr>
          <a:xfrm>
            <a:off x="8082077" y="1554480"/>
            <a:ext cx="3606698" cy="137160"/>
          </a:xfrm>
          <a:prstGeom prst="rect">
            <a:avLst/>
          </a:prstGeom>
          <a:solidFill>
            <a:srgbClr val="1E2761"/>
          </a:solidFill>
          <a:ln/>
        </p:spPr>
      </p:sp>
      <p:sp>
        <p:nvSpPr>
          <p:cNvPr id="19" name="Text 17"/>
          <p:cNvSpPr/>
          <p:nvPr/>
        </p:nvSpPr>
        <p:spPr>
          <a:xfrm>
            <a:off x="8264957" y="1828800"/>
            <a:ext cx="3240938" cy="914400"/>
          </a:xfrm>
          <a:prstGeom prst="rect">
            <a:avLst/>
          </a:prstGeom>
          <a:noFill/>
          <a:ln/>
        </p:spPr>
        <p:txBody>
          <a:bodyPr wrap="square" lIns="0" tIns="0" rIns="0" bIns="0" rtlCol="0" anchor="ctr"/>
          <a:lstStyle/>
          <a:p>
            <a:pPr indent="0" marL="0">
              <a:buNone/>
            </a:pPr>
            <a:r>
              <a:rPr lang="en-US" sz="5600" b="1" dirty="0">
                <a:solidFill>
                  <a:srgbClr val="1E2761"/>
                </a:solidFill>
                <a:latin typeface="Calibri" pitchFamily="34" charset="0"/>
                <a:ea typeface="Calibri" pitchFamily="34" charset="-122"/>
                <a:cs typeface="Calibri" pitchFamily="34" charset="-120"/>
              </a:rPr>
              <a:t>↓</a:t>
            </a:r>
            <a:endParaRPr lang="en-US" sz="5600" dirty="0"/>
          </a:p>
        </p:txBody>
      </p:sp>
      <p:sp>
        <p:nvSpPr>
          <p:cNvPr id="20" name="Text 18"/>
          <p:cNvSpPr/>
          <p:nvPr/>
        </p:nvSpPr>
        <p:spPr>
          <a:xfrm>
            <a:off x="8264957" y="2834640"/>
            <a:ext cx="3240938"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Convergence reliability</a:t>
            </a:r>
            <a:endParaRPr lang="en-US" sz="1400" dirty="0"/>
          </a:p>
        </p:txBody>
      </p:sp>
      <p:sp>
        <p:nvSpPr>
          <p:cNvPr id="21" name="Text 19"/>
          <p:cNvSpPr/>
          <p:nvPr/>
        </p:nvSpPr>
        <p:spPr>
          <a:xfrm>
            <a:off x="8264957" y="3200400"/>
            <a:ext cx="3240938" cy="5943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Joint actor + message gradient interferes with action-only optimization.</a:t>
            </a:r>
            <a:endParaRPr lang="en-US" sz="1100" dirty="0"/>
          </a:p>
        </p:txBody>
      </p:sp>
      <p:sp>
        <p:nvSpPr>
          <p:cNvPr id="22" name="Shape 20"/>
          <p:cNvSpPr/>
          <p:nvPr/>
        </p:nvSpPr>
        <p:spPr>
          <a:xfrm>
            <a:off x="502920" y="3931920"/>
            <a:ext cx="11185855" cy="1737360"/>
          </a:xfrm>
          <a:prstGeom prst="rect">
            <a:avLst/>
          </a:prstGeom>
          <a:solidFill>
            <a:srgbClr val="F4F6FB"/>
          </a:solidFill>
          <a:ln w="9525">
            <a:solidFill>
              <a:srgbClr val="CADCFC"/>
            </a:solidFill>
            <a:prstDash val="solid"/>
          </a:ln>
        </p:spPr>
      </p:sp>
      <p:sp>
        <p:nvSpPr>
          <p:cNvPr id="23" name="Shape 21"/>
          <p:cNvSpPr/>
          <p:nvPr/>
        </p:nvSpPr>
        <p:spPr>
          <a:xfrm>
            <a:off x="502920" y="3931920"/>
            <a:ext cx="73152" cy="1737360"/>
          </a:xfrm>
          <a:prstGeom prst="rect">
            <a:avLst/>
          </a:prstGeom>
          <a:solidFill>
            <a:srgbClr val="E8A33D"/>
          </a:solidFill>
          <a:ln/>
        </p:spPr>
      </p:sp>
      <p:sp>
        <p:nvSpPr>
          <p:cNvPr id="24" name="Text 22"/>
          <p:cNvSpPr/>
          <p:nvPr/>
        </p:nvSpPr>
        <p:spPr>
          <a:xfrm>
            <a:off x="713232" y="4023360"/>
            <a:ext cx="50292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Implication</a:t>
            </a:r>
            <a:endParaRPr lang="en-US" sz="1300" dirty="0"/>
          </a:p>
        </p:txBody>
      </p:sp>
      <p:sp>
        <p:nvSpPr>
          <p:cNvPr id="25" name="Text 23"/>
          <p:cNvSpPr/>
          <p:nvPr/>
        </p:nvSpPr>
        <p:spPr>
          <a:xfrm>
            <a:off x="713232" y="4389120"/>
            <a:ext cx="10911535" cy="118872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The failure is not only “missing information.” The joint policy is harder to train when the actor must simultaneously learn to send and receive. Even where the channel could in principle help, the learner may not arrive there reliably under PPO + RIAL-style discrete messages.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E2761"/>
          </a:solidFill>
          <a:ln/>
        </p:spPr>
      </p:sp>
      <p:sp>
        <p:nvSpPr>
          <p:cNvPr id="3" name="Text 1"/>
          <p:cNvSpPr/>
          <p:nvPr/>
        </p:nvSpPr>
        <p:spPr>
          <a:xfrm>
            <a:off x="411480" y="6537960"/>
            <a:ext cx="7772400" cy="228600"/>
          </a:xfrm>
          <a:prstGeom prst="rect">
            <a:avLst/>
          </a:prstGeom>
          <a:noFill/>
          <a:ln/>
        </p:spPr>
        <p:txBody>
          <a:bodyPr wrap="square" lIns="0" tIns="0" rIns="0" bIns="0" rtlCol="0" anchor="ctr"/>
          <a:lstStyle/>
          <a:p>
            <a:pPr indent="0" marL="0">
              <a:buNone/>
            </a:pPr>
            <a:r>
              <a:rPr lang="en-US" sz="900" dirty="0">
                <a:solidFill>
                  <a:srgbClr val="5C6F94"/>
                </a:solidFill>
                <a:latin typeface="Calibri" pitchFamily="34" charset="0"/>
                <a:ea typeface="Calibri" pitchFamily="34" charset="-122"/>
                <a:cs typeface="Calibri" pitchFamily="34" charset="-120"/>
              </a:rPr>
              <a:t>Communication Under Delayed Liveness</a:t>
            </a:r>
            <a:pPr indent="0" marL="0">
              <a:buNone/>
            </a:pPr>
            <a:r>
              <a:rPr lang="en-US" sz="900" dirty="0">
                <a:solidFill>
                  <a:srgbClr val="B9C4DA"/>
                </a:solidFill>
                <a:latin typeface="Calibri" pitchFamily="34" charset="0"/>
                <a:ea typeface="Calibri" pitchFamily="34" charset="-122"/>
                <a:cs typeface="Calibri" pitchFamily="34" charset="-120"/>
              </a:rPr>
              <a:t>   |   </a:t>
            </a:r>
            <a:pPr indent="0" marL="0">
              <a:buNone/>
            </a:pPr>
            <a:r>
              <a:rPr lang="en-US" sz="900" i="1" dirty="0">
                <a:solidFill>
                  <a:srgbClr val="5C6F94"/>
                </a:solidFill>
                <a:latin typeface="Calibri" pitchFamily="34" charset="0"/>
                <a:ea typeface="Calibri" pitchFamily="34" charset="-122"/>
                <a:cs typeface="Calibri" pitchFamily="34" charset="-120"/>
              </a:rPr>
              <a:t>Cooperative MARL · RWARE</a:t>
            </a:r>
            <a:endParaRPr lang="en-US" sz="900" dirty="0"/>
          </a:p>
        </p:txBody>
      </p:sp>
      <p:sp>
        <p:nvSpPr>
          <p:cNvPr id="4" name="Text 2"/>
          <p:cNvSpPr/>
          <p:nvPr/>
        </p:nvSpPr>
        <p:spPr>
          <a:xfrm>
            <a:off x="11094415" y="6537960"/>
            <a:ext cx="822960" cy="228600"/>
          </a:xfrm>
          <a:prstGeom prst="rect">
            <a:avLst/>
          </a:prstGeom>
          <a:noFill/>
          <a:ln/>
        </p:spPr>
        <p:txBody>
          <a:bodyPr wrap="square" lIns="0" tIns="0" rIns="0" bIns="0" rtlCol="0" anchor="ctr"/>
          <a:lstStyle/>
          <a:p>
            <a:pPr algn="r" indent="0" marL="0">
              <a:buNone/>
            </a:pPr>
            <a:r>
              <a:rPr lang="en-US" sz="900" dirty="0">
                <a:solidFill>
                  <a:srgbClr val="5C6F94"/>
                </a:solidFill>
                <a:latin typeface="Calibri" pitchFamily="34" charset="0"/>
                <a:ea typeface="Calibri" pitchFamily="34" charset="-122"/>
                <a:cs typeface="Calibri" pitchFamily="34" charset="-120"/>
              </a:rPr>
              <a:t>11 / 13</a:t>
            </a:r>
            <a:endParaRPr lang="en-US" sz="900" dirty="0"/>
          </a:p>
        </p:txBody>
      </p:sp>
      <p:sp>
        <p:nvSpPr>
          <p:cNvPr id="5" name="Text 3"/>
          <p:cNvSpPr/>
          <p:nvPr/>
        </p:nvSpPr>
        <p:spPr>
          <a:xfrm>
            <a:off x="502920" y="292608"/>
            <a:ext cx="10972800" cy="292608"/>
          </a:xfrm>
          <a:prstGeom prst="rect">
            <a:avLst/>
          </a:prstGeom>
          <a:noFill/>
          <a:ln/>
        </p:spPr>
        <p:txBody>
          <a:bodyPr wrap="square" lIns="0" tIns="0" rIns="0" bIns="0" rtlCol="0" anchor="ctr"/>
          <a:lstStyle/>
          <a:p>
            <a:pPr indent="0" marL="0">
              <a:buNone/>
            </a:pPr>
            <a:r>
              <a:rPr lang="en-US" sz="1100" b="1" spc="400" kern="0" dirty="0">
                <a:solidFill>
                  <a:srgbClr val="E8A33D"/>
                </a:solidFill>
                <a:latin typeface="Calibri" pitchFamily="34" charset="0"/>
                <a:ea typeface="Calibri" pitchFamily="34" charset="-122"/>
                <a:cs typeface="Calibri" pitchFamily="34" charset="-120"/>
              </a:rPr>
              <a:t>HRL DIAGNOSTIC</a:t>
            </a:r>
            <a:endParaRPr lang="en-US" sz="1100" dirty="0"/>
          </a:p>
        </p:txBody>
      </p:sp>
      <p:sp>
        <p:nvSpPr>
          <p:cNvPr id="6" name="Text 4"/>
          <p:cNvSpPr/>
          <p:nvPr/>
        </p:nvSpPr>
        <p:spPr>
          <a:xfrm>
            <a:off x="502920" y="566928"/>
            <a:ext cx="11338560" cy="868680"/>
          </a:xfrm>
          <a:prstGeom prst="rect">
            <a:avLst/>
          </a:prstGeom>
          <a:noFill/>
          <a:ln/>
        </p:spPr>
        <p:txBody>
          <a:bodyPr wrap="square" lIns="0" tIns="0" rIns="0" bIns="0" rtlCol="0" anchor="t"/>
          <a:lstStyle/>
          <a:p>
            <a:pPr indent="0" marL="0">
              <a:buNone/>
            </a:pPr>
            <a:r>
              <a:rPr lang="en-US" sz="2800" b="1" dirty="0">
                <a:solidFill>
                  <a:srgbClr val="1E2761"/>
                </a:solidFill>
                <a:latin typeface="Calibri" pitchFamily="34" charset="0"/>
                <a:ea typeface="Calibri" pitchFamily="34" charset="-122"/>
                <a:cs typeface="Calibri" pitchFamily="34" charset="-120"/>
              </a:rPr>
              <a:t>Is the failure HRL? Partially — but high-level is not the only bottleneck</a:t>
            </a:r>
            <a:endParaRPr lang="en-US" sz="2800" dirty="0"/>
          </a:p>
        </p:txBody>
      </p:sp>
      <p:graphicFrame>
        <p:nvGraphicFramePr>
          <p:cNvPr id="7" name="Chart 0" descr=""/>
          <p:cNvGraphicFramePr/>
          <p:nvPr/>
        </p:nvGraphicFramePr>
        <p:xfrm>
          <a:off x="502920" y="150876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02920" y="5760720"/>
            <a:ext cx="6949440" cy="228600"/>
          </a:xfrm>
          <a:prstGeom prst="rect">
            <a:avLst/>
          </a:prstGeom>
          <a:noFill/>
          <a:ln/>
        </p:spPr>
        <p:txBody>
          <a:bodyPr wrap="square" lIns="0" tIns="0" rIns="0" bIns="0" rtlCol="0" anchor="ctr"/>
          <a:lstStyle/>
          <a:p>
            <a:pPr indent="0" marL="0">
              <a:buNone/>
            </a:pPr>
            <a:r>
              <a:rPr lang="en-US" sz="1000" i="1" dirty="0">
                <a:solidFill>
                  <a:srgbClr val="5C6F94"/>
                </a:solidFill>
                <a:latin typeface="Calibri" pitchFamily="34" charset="0"/>
                <a:ea typeface="Calibri" pitchFamily="34" charset="-122"/>
                <a:cs typeface="Calibri" pitchFamily="34" charset="-120"/>
              </a:rPr>
              <a:t>Source: matrix_results/diagnostics_v1_sam (n = 4 seeds).</a:t>
            </a:r>
            <a:endParaRPr lang="en-US" sz="1000" dirty="0"/>
          </a:p>
        </p:txBody>
      </p:sp>
      <p:sp>
        <p:nvSpPr>
          <p:cNvPr id="9" name="Text 6"/>
          <p:cNvSpPr/>
          <p:nvPr/>
        </p:nvSpPr>
        <p:spPr>
          <a:xfrm>
            <a:off x="7680960" y="1554480"/>
            <a:ext cx="400781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Interpretation</a:t>
            </a:r>
            <a:endParaRPr lang="en-US" sz="1400" dirty="0"/>
          </a:p>
        </p:txBody>
      </p:sp>
      <p:sp>
        <p:nvSpPr>
          <p:cNvPr id="10" name="Text 7"/>
          <p:cNvSpPr/>
          <p:nvPr/>
        </p:nvSpPr>
        <p:spPr>
          <a:xfrm>
            <a:off x="7680960" y="1920240"/>
            <a:ext cx="4007815" cy="402336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Oracle high-level helps slightly (+0.05 to +0.12 vs. base HRL).</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Absolute returns remain near zero in all three configurations.</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High-level abstraction is not the only issue — the low-level executor cannot reliably deliver shelves.</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Pre-empts “the project would work if you used HRL” — partial but not sufficient.</a:t>
            </a:r>
            <a:endParaRPr lang="en-US" sz="1200" dirty="0"/>
          </a:p>
        </p:txBody>
      </p:sp>
      <p:sp>
        <p:nvSpPr>
          <p:cNvPr id="11" name="Shape 8"/>
          <p:cNvSpPr/>
          <p:nvPr/>
        </p:nvSpPr>
        <p:spPr>
          <a:xfrm>
            <a:off x="502920" y="5943600"/>
            <a:ext cx="11185855" cy="502920"/>
          </a:xfrm>
          <a:prstGeom prst="rect">
            <a:avLst/>
          </a:prstGeom>
          <a:solidFill>
            <a:srgbClr val="F4F6FB"/>
          </a:solidFill>
          <a:ln w="9525">
            <a:solidFill>
              <a:srgbClr val="CADCFC"/>
            </a:solidFill>
            <a:prstDash val="solid"/>
          </a:ln>
        </p:spPr>
      </p:sp>
      <p:sp>
        <p:nvSpPr>
          <p:cNvPr id="12" name="Shape 9"/>
          <p:cNvSpPr/>
          <p:nvPr/>
        </p:nvSpPr>
        <p:spPr>
          <a:xfrm>
            <a:off x="502920" y="5943600"/>
            <a:ext cx="73152" cy="502920"/>
          </a:xfrm>
          <a:prstGeom prst="rect">
            <a:avLst/>
          </a:prstGeom>
          <a:solidFill>
            <a:srgbClr val="E8A33D"/>
          </a:solidFill>
          <a:ln/>
        </p:spPr>
      </p:sp>
      <p:sp>
        <p:nvSpPr>
          <p:cNvPr id="13" name="Text 10"/>
          <p:cNvSpPr/>
          <p:nvPr/>
        </p:nvSpPr>
        <p:spPr>
          <a:xfrm>
            <a:off x="713232" y="5943600"/>
            <a:ext cx="10911535" cy="5029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Speaker note: </a:t>
            </a:r>
            <a:pPr indent="0" marL="0">
              <a:buNone/>
            </a:pPr>
            <a:r>
              <a:rPr lang="en-US" sz="1100" i="1" dirty="0">
                <a:solidFill>
                  <a:srgbClr val="1A1A1A"/>
                </a:solidFill>
                <a:latin typeface="Calibri" pitchFamily="34" charset="0"/>
                <a:ea typeface="Calibri" pitchFamily="34" charset="-122"/>
                <a:cs typeface="Calibri" pitchFamily="34" charset="-120"/>
              </a:rPr>
              <a:t>HRL keeps the same low-level executor; the bar chart isolates whether high-level choice or low-level skill is the bottleneck.</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E2761"/>
          </a:solidFill>
          <a:ln/>
        </p:spPr>
      </p:sp>
      <p:sp>
        <p:nvSpPr>
          <p:cNvPr id="3" name="Text 1"/>
          <p:cNvSpPr/>
          <p:nvPr/>
        </p:nvSpPr>
        <p:spPr>
          <a:xfrm>
            <a:off x="411480" y="6537960"/>
            <a:ext cx="7772400" cy="228600"/>
          </a:xfrm>
          <a:prstGeom prst="rect">
            <a:avLst/>
          </a:prstGeom>
          <a:noFill/>
          <a:ln/>
        </p:spPr>
        <p:txBody>
          <a:bodyPr wrap="square" lIns="0" tIns="0" rIns="0" bIns="0" rtlCol="0" anchor="ctr"/>
          <a:lstStyle/>
          <a:p>
            <a:pPr indent="0" marL="0">
              <a:buNone/>
            </a:pPr>
            <a:r>
              <a:rPr lang="en-US" sz="900" dirty="0">
                <a:solidFill>
                  <a:srgbClr val="5C6F94"/>
                </a:solidFill>
                <a:latin typeface="Calibri" pitchFamily="34" charset="0"/>
                <a:ea typeface="Calibri" pitchFamily="34" charset="-122"/>
                <a:cs typeface="Calibri" pitchFamily="34" charset="-120"/>
              </a:rPr>
              <a:t>Communication Under Delayed Liveness</a:t>
            </a:r>
            <a:pPr indent="0" marL="0">
              <a:buNone/>
            </a:pPr>
            <a:r>
              <a:rPr lang="en-US" sz="900" dirty="0">
                <a:solidFill>
                  <a:srgbClr val="B9C4DA"/>
                </a:solidFill>
                <a:latin typeface="Calibri" pitchFamily="34" charset="0"/>
                <a:ea typeface="Calibri" pitchFamily="34" charset="-122"/>
                <a:cs typeface="Calibri" pitchFamily="34" charset="-120"/>
              </a:rPr>
              <a:t>   |   </a:t>
            </a:r>
            <a:pPr indent="0" marL="0">
              <a:buNone/>
            </a:pPr>
            <a:r>
              <a:rPr lang="en-US" sz="900" i="1" dirty="0">
                <a:solidFill>
                  <a:srgbClr val="5C6F94"/>
                </a:solidFill>
                <a:latin typeface="Calibri" pitchFamily="34" charset="0"/>
                <a:ea typeface="Calibri" pitchFamily="34" charset="-122"/>
                <a:cs typeface="Calibri" pitchFamily="34" charset="-120"/>
              </a:rPr>
              <a:t>Cooperative MARL · RWARE</a:t>
            </a:r>
            <a:endParaRPr lang="en-US" sz="900" dirty="0"/>
          </a:p>
        </p:txBody>
      </p:sp>
      <p:sp>
        <p:nvSpPr>
          <p:cNvPr id="4" name="Text 2"/>
          <p:cNvSpPr/>
          <p:nvPr/>
        </p:nvSpPr>
        <p:spPr>
          <a:xfrm>
            <a:off x="11094415" y="6537960"/>
            <a:ext cx="822960" cy="228600"/>
          </a:xfrm>
          <a:prstGeom prst="rect">
            <a:avLst/>
          </a:prstGeom>
          <a:noFill/>
          <a:ln/>
        </p:spPr>
        <p:txBody>
          <a:bodyPr wrap="square" lIns="0" tIns="0" rIns="0" bIns="0" rtlCol="0" anchor="ctr"/>
          <a:lstStyle/>
          <a:p>
            <a:pPr algn="r" indent="0" marL="0">
              <a:buNone/>
            </a:pPr>
            <a:r>
              <a:rPr lang="en-US" sz="900" dirty="0">
                <a:solidFill>
                  <a:srgbClr val="5C6F94"/>
                </a:solidFill>
                <a:latin typeface="Calibri" pitchFamily="34" charset="0"/>
                <a:ea typeface="Calibri" pitchFamily="34" charset="-122"/>
                <a:cs typeface="Calibri" pitchFamily="34" charset="-120"/>
              </a:rPr>
              <a:t>12 / 13</a:t>
            </a:r>
            <a:endParaRPr lang="en-US" sz="900" dirty="0"/>
          </a:p>
        </p:txBody>
      </p:sp>
      <p:sp>
        <p:nvSpPr>
          <p:cNvPr id="5" name="Text 3"/>
          <p:cNvSpPr/>
          <p:nvPr/>
        </p:nvSpPr>
        <p:spPr>
          <a:xfrm>
            <a:off x="502920" y="292608"/>
            <a:ext cx="10972800" cy="292608"/>
          </a:xfrm>
          <a:prstGeom prst="rect">
            <a:avLst/>
          </a:prstGeom>
          <a:noFill/>
          <a:ln/>
        </p:spPr>
        <p:txBody>
          <a:bodyPr wrap="square" lIns="0" tIns="0" rIns="0" bIns="0" rtlCol="0" anchor="ctr"/>
          <a:lstStyle/>
          <a:p>
            <a:pPr indent="0" marL="0">
              <a:buNone/>
            </a:pPr>
            <a:r>
              <a:rPr lang="en-US" sz="1100" b="1" spc="400" kern="0" dirty="0">
                <a:solidFill>
                  <a:srgbClr val="E8A33D"/>
                </a:solidFill>
                <a:latin typeface="Calibri" pitchFamily="34" charset="0"/>
                <a:ea typeface="Calibri" pitchFamily="34" charset="-122"/>
                <a:cs typeface="Calibri" pitchFamily="34" charset="-120"/>
              </a:rPr>
              <a:t>CONTRIBUTIONS</a:t>
            </a:r>
            <a:endParaRPr lang="en-US" sz="1100" dirty="0"/>
          </a:p>
        </p:txBody>
      </p:sp>
      <p:sp>
        <p:nvSpPr>
          <p:cNvPr id="6" name="Text 4"/>
          <p:cNvSpPr/>
          <p:nvPr/>
        </p:nvSpPr>
        <p:spPr>
          <a:xfrm>
            <a:off x="502920" y="566928"/>
            <a:ext cx="11338560" cy="868680"/>
          </a:xfrm>
          <a:prstGeom prst="rect">
            <a:avLst/>
          </a:prstGeom>
          <a:noFill/>
          <a:ln/>
        </p:spPr>
        <p:txBody>
          <a:bodyPr wrap="square" lIns="0" tIns="0" rIns="0" bIns="0" rtlCol="0" anchor="t"/>
          <a:lstStyle/>
          <a:p>
            <a:pPr indent="0" marL="0">
              <a:buNone/>
            </a:pPr>
            <a:r>
              <a:rPr lang="en-US" sz="2800" b="1" dirty="0">
                <a:solidFill>
                  <a:srgbClr val="1E2761"/>
                </a:solidFill>
                <a:latin typeface="Calibri" pitchFamily="34" charset="0"/>
                <a:ea typeface="Calibri" pitchFamily="34" charset="-122"/>
                <a:cs typeface="Calibri" pitchFamily="34" charset="-120"/>
              </a:rPr>
              <a:t>What we add beyond a single negative result</a:t>
            </a:r>
            <a:endParaRPr lang="en-US" sz="2800" dirty="0"/>
          </a:p>
        </p:txBody>
      </p:sp>
      <p:sp>
        <p:nvSpPr>
          <p:cNvPr id="7" name="Shape 5"/>
          <p:cNvSpPr/>
          <p:nvPr/>
        </p:nvSpPr>
        <p:spPr>
          <a:xfrm>
            <a:off x="502920" y="1554480"/>
            <a:ext cx="3606698" cy="4206240"/>
          </a:xfrm>
          <a:prstGeom prst="rect">
            <a:avLst/>
          </a:prstGeom>
          <a:solidFill>
            <a:srgbClr val="FFFFFF"/>
          </a:solidFill>
          <a:ln w="9525">
            <a:solidFill>
              <a:srgbClr val="CADCFC"/>
            </a:solidFill>
            <a:prstDash val="solid"/>
          </a:ln>
        </p:spPr>
      </p:sp>
      <p:sp>
        <p:nvSpPr>
          <p:cNvPr id="8" name="Shape 6"/>
          <p:cNvSpPr/>
          <p:nvPr/>
        </p:nvSpPr>
        <p:spPr>
          <a:xfrm>
            <a:off x="502920" y="1554480"/>
            <a:ext cx="3606698" cy="502920"/>
          </a:xfrm>
          <a:prstGeom prst="rect">
            <a:avLst/>
          </a:prstGeom>
          <a:solidFill>
            <a:srgbClr val="1E2761"/>
          </a:solidFill>
          <a:ln/>
        </p:spPr>
      </p:sp>
      <p:sp>
        <p:nvSpPr>
          <p:cNvPr id="9" name="Text 7"/>
          <p:cNvSpPr/>
          <p:nvPr/>
        </p:nvSpPr>
        <p:spPr>
          <a:xfrm>
            <a:off x="685800" y="1645920"/>
            <a:ext cx="3240938" cy="365760"/>
          </a:xfrm>
          <a:prstGeom prst="rect">
            <a:avLst/>
          </a:prstGeom>
          <a:noFill/>
          <a:ln/>
        </p:spPr>
        <p:txBody>
          <a:bodyPr wrap="square" lIns="0" tIns="0" rIns="0" bIns="0"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INFRASTRUCTURE</a:t>
            </a:r>
            <a:endParaRPr lang="en-US" sz="1100" dirty="0"/>
          </a:p>
        </p:txBody>
      </p:sp>
      <p:sp>
        <p:nvSpPr>
          <p:cNvPr id="10" name="Text 8"/>
          <p:cNvSpPr/>
          <p:nvPr/>
        </p:nvSpPr>
        <p:spPr>
          <a:xfrm>
            <a:off x="685800" y="2194560"/>
            <a:ext cx="3240938"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Tooling and pipelines</a:t>
            </a:r>
            <a:endParaRPr lang="en-US" sz="1600" dirty="0"/>
          </a:p>
        </p:txBody>
      </p:sp>
      <p:sp>
        <p:nvSpPr>
          <p:cNvPr id="11" name="Text 9"/>
          <p:cNvSpPr/>
          <p:nvPr/>
        </p:nvSpPr>
        <p:spPr>
          <a:xfrm>
            <a:off x="685800" y="2743200"/>
            <a:ext cx="3240938" cy="292608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Matrix runner with regime × delay × method × seed sweeps.</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Cross-lab pooling with strict config-equality checks.</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Production-eval mode (eval_every=25, eval_episodes=30) and pooled dashboards.</a:t>
            </a:r>
            <a:endParaRPr lang="en-US" sz="1200" dirty="0"/>
          </a:p>
        </p:txBody>
      </p:sp>
      <p:sp>
        <p:nvSpPr>
          <p:cNvPr id="12" name="Shape 10"/>
          <p:cNvSpPr/>
          <p:nvPr/>
        </p:nvSpPr>
        <p:spPr>
          <a:xfrm>
            <a:off x="4292498" y="1554480"/>
            <a:ext cx="3606698" cy="4206240"/>
          </a:xfrm>
          <a:prstGeom prst="rect">
            <a:avLst/>
          </a:prstGeom>
          <a:solidFill>
            <a:srgbClr val="FFFFFF"/>
          </a:solidFill>
          <a:ln w="9525">
            <a:solidFill>
              <a:srgbClr val="CADCFC"/>
            </a:solidFill>
            <a:prstDash val="solid"/>
          </a:ln>
        </p:spPr>
      </p:sp>
      <p:sp>
        <p:nvSpPr>
          <p:cNvPr id="13" name="Shape 11"/>
          <p:cNvSpPr/>
          <p:nvPr/>
        </p:nvSpPr>
        <p:spPr>
          <a:xfrm>
            <a:off x="4292498" y="1554480"/>
            <a:ext cx="3606698" cy="502920"/>
          </a:xfrm>
          <a:prstGeom prst="rect">
            <a:avLst/>
          </a:prstGeom>
          <a:solidFill>
            <a:srgbClr val="E8A33D"/>
          </a:solidFill>
          <a:ln/>
        </p:spPr>
      </p:sp>
      <p:sp>
        <p:nvSpPr>
          <p:cNvPr id="14" name="Text 12"/>
          <p:cNvSpPr/>
          <p:nvPr/>
        </p:nvSpPr>
        <p:spPr>
          <a:xfrm>
            <a:off x="4475378" y="1645920"/>
            <a:ext cx="3240938" cy="365760"/>
          </a:xfrm>
          <a:prstGeom prst="rect">
            <a:avLst/>
          </a:prstGeom>
          <a:noFill/>
          <a:ln/>
        </p:spPr>
        <p:txBody>
          <a:bodyPr wrap="square" lIns="0" tIns="0" rIns="0" bIns="0"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PROTOCOL</a:t>
            </a:r>
            <a:endParaRPr lang="en-US" sz="1100" dirty="0"/>
          </a:p>
        </p:txBody>
      </p:sp>
      <p:sp>
        <p:nvSpPr>
          <p:cNvPr id="15" name="Text 13"/>
          <p:cNvSpPr/>
          <p:nvPr/>
        </p:nvSpPr>
        <p:spPr>
          <a:xfrm>
            <a:off x="4475378" y="2194560"/>
            <a:ext cx="3240938"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Evaluation discipline</a:t>
            </a:r>
            <a:endParaRPr lang="en-US" sz="1600" dirty="0"/>
          </a:p>
        </p:txBody>
      </p:sp>
      <p:sp>
        <p:nvSpPr>
          <p:cNvPr id="16" name="Text 14"/>
          <p:cNvSpPr/>
          <p:nvPr/>
        </p:nvSpPr>
        <p:spPr>
          <a:xfrm>
            <a:off x="4475378" y="2743200"/>
            <a:ext cx="3240938" cy="292608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Headroom check before measuring comm.</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Interaction effect (Δ) as the headline target, not single-cell lifts.</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Crowding / map-density confound checks to avoid “dropout looks easier” artifacts.</a:t>
            </a:r>
            <a:endParaRPr lang="en-US" sz="1200" dirty="0"/>
          </a:p>
        </p:txBody>
      </p:sp>
      <p:sp>
        <p:nvSpPr>
          <p:cNvPr id="17" name="Shape 15"/>
          <p:cNvSpPr/>
          <p:nvPr/>
        </p:nvSpPr>
        <p:spPr>
          <a:xfrm>
            <a:off x="8082077" y="1554480"/>
            <a:ext cx="3606698" cy="4206240"/>
          </a:xfrm>
          <a:prstGeom prst="rect">
            <a:avLst/>
          </a:prstGeom>
          <a:solidFill>
            <a:srgbClr val="FFFFFF"/>
          </a:solidFill>
          <a:ln w="9525">
            <a:solidFill>
              <a:srgbClr val="CADCFC"/>
            </a:solidFill>
            <a:prstDash val="solid"/>
          </a:ln>
        </p:spPr>
      </p:sp>
      <p:sp>
        <p:nvSpPr>
          <p:cNvPr id="18" name="Shape 16"/>
          <p:cNvSpPr/>
          <p:nvPr/>
        </p:nvSpPr>
        <p:spPr>
          <a:xfrm>
            <a:off x="8082077" y="1554480"/>
            <a:ext cx="3606698" cy="502920"/>
          </a:xfrm>
          <a:prstGeom prst="rect">
            <a:avLst/>
          </a:prstGeom>
          <a:solidFill>
            <a:srgbClr val="0E6E5C"/>
          </a:solidFill>
          <a:ln/>
        </p:spPr>
      </p:sp>
      <p:sp>
        <p:nvSpPr>
          <p:cNvPr id="19" name="Text 17"/>
          <p:cNvSpPr/>
          <p:nvPr/>
        </p:nvSpPr>
        <p:spPr>
          <a:xfrm>
            <a:off x="8264957" y="1645920"/>
            <a:ext cx="3240938" cy="365760"/>
          </a:xfrm>
          <a:prstGeom prst="rect">
            <a:avLst/>
          </a:prstGeom>
          <a:noFill/>
          <a:ln/>
        </p:spPr>
        <p:txBody>
          <a:bodyPr wrap="square" lIns="0" tIns="0" rIns="0" bIns="0"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MECHANISTIC</a:t>
            </a:r>
            <a:endParaRPr lang="en-US" sz="1100" dirty="0"/>
          </a:p>
        </p:txBody>
      </p:sp>
      <p:sp>
        <p:nvSpPr>
          <p:cNvPr id="20" name="Text 18"/>
          <p:cNvSpPr/>
          <p:nvPr/>
        </p:nvSpPr>
        <p:spPr>
          <a:xfrm>
            <a:off x="8264957" y="2194560"/>
            <a:ext cx="3240938"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Negative-result decomposition</a:t>
            </a:r>
            <a:endParaRPr lang="en-US" sz="1600" dirty="0"/>
          </a:p>
        </p:txBody>
      </p:sp>
      <p:sp>
        <p:nvSpPr>
          <p:cNvPr id="21" name="Text 19"/>
          <p:cNvSpPr/>
          <p:nvPr/>
        </p:nvSpPr>
        <p:spPr>
          <a:xfrm>
            <a:off x="8264957" y="2743200"/>
            <a:ext cx="3240938" cy="292608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Ungrounded discrete messages as a first-class failure mode (entropy diagnostic).</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Oracle / death-token isolates channel capacity from learning failure.</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Optimization-side evidence: comm changes training dynamics, not just bits.</a:t>
            </a:r>
            <a:endParaRPr lang="en-US" sz="1200" dirty="0"/>
          </a:p>
        </p:txBody>
      </p:sp>
      <p:sp>
        <p:nvSpPr>
          <p:cNvPr id="22" name="Shape 20"/>
          <p:cNvSpPr/>
          <p:nvPr/>
        </p:nvSpPr>
        <p:spPr>
          <a:xfrm>
            <a:off x="502920" y="5943600"/>
            <a:ext cx="11185855" cy="502920"/>
          </a:xfrm>
          <a:prstGeom prst="rect">
            <a:avLst/>
          </a:prstGeom>
          <a:solidFill>
            <a:srgbClr val="F4F6FB"/>
          </a:solidFill>
          <a:ln w="9525">
            <a:solidFill>
              <a:srgbClr val="CADCFC"/>
            </a:solidFill>
            <a:prstDash val="solid"/>
          </a:ln>
        </p:spPr>
      </p:sp>
      <p:sp>
        <p:nvSpPr>
          <p:cNvPr id="23" name="Shape 21"/>
          <p:cNvSpPr/>
          <p:nvPr/>
        </p:nvSpPr>
        <p:spPr>
          <a:xfrm>
            <a:off x="502920" y="5943600"/>
            <a:ext cx="73152" cy="502920"/>
          </a:xfrm>
          <a:prstGeom prst="rect">
            <a:avLst/>
          </a:prstGeom>
          <a:solidFill>
            <a:srgbClr val="E8A33D"/>
          </a:solidFill>
          <a:ln/>
        </p:spPr>
      </p:sp>
      <p:sp>
        <p:nvSpPr>
          <p:cNvPr id="24" name="Text 22"/>
          <p:cNvSpPr/>
          <p:nvPr/>
        </p:nvSpPr>
        <p:spPr>
          <a:xfrm>
            <a:off x="713232" y="5943600"/>
            <a:ext cx="10911535" cy="5029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Speaker note: </a:t>
            </a:r>
            <a:pPr indent="0" marL="0">
              <a:buNone/>
            </a:pPr>
            <a:r>
              <a:rPr lang="en-US" sz="1100" i="1" dirty="0">
                <a:solidFill>
                  <a:srgbClr val="1A1A1A"/>
                </a:solidFill>
                <a:latin typeface="Calibri" pitchFamily="34" charset="0"/>
                <a:ea typeface="Calibri" pitchFamily="34" charset="-122"/>
                <a:cs typeface="Calibri" pitchFamily="34" charset="-120"/>
              </a:rPr>
              <a:t>The contribution is a benchmark + protocol + mechanistic decomposition, even when the headline hypothesis fails.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E2761"/>
          </a:solidFill>
          <a:ln/>
        </p:spPr>
      </p:sp>
      <p:sp>
        <p:nvSpPr>
          <p:cNvPr id="3" name="Text 1"/>
          <p:cNvSpPr/>
          <p:nvPr/>
        </p:nvSpPr>
        <p:spPr>
          <a:xfrm>
            <a:off x="411480" y="6537960"/>
            <a:ext cx="7772400" cy="228600"/>
          </a:xfrm>
          <a:prstGeom prst="rect">
            <a:avLst/>
          </a:prstGeom>
          <a:noFill/>
          <a:ln/>
        </p:spPr>
        <p:txBody>
          <a:bodyPr wrap="square" lIns="0" tIns="0" rIns="0" bIns="0" rtlCol="0" anchor="ctr"/>
          <a:lstStyle/>
          <a:p>
            <a:pPr indent="0" marL="0">
              <a:buNone/>
            </a:pPr>
            <a:r>
              <a:rPr lang="en-US" sz="900" dirty="0">
                <a:solidFill>
                  <a:srgbClr val="5C6F94"/>
                </a:solidFill>
                <a:latin typeface="Calibri" pitchFamily="34" charset="0"/>
                <a:ea typeface="Calibri" pitchFamily="34" charset="-122"/>
                <a:cs typeface="Calibri" pitchFamily="34" charset="-120"/>
              </a:rPr>
              <a:t>Communication Under Delayed Liveness</a:t>
            </a:r>
            <a:pPr indent="0" marL="0">
              <a:buNone/>
            </a:pPr>
            <a:r>
              <a:rPr lang="en-US" sz="900" dirty="0">
                <a:solidFill>
                  <a:srgbClr val="B9C4DA"/>
                </a:solidFill>
                <a:latin typeface="Calibri" pitchFamily="34" charset="0"/>
                <a:ea typeface="Calibri" pitchFamily="34" charset="-122"/>
                <a:cs typeface="Calibri" pitchFamily="34" charset="-120"/>
              </a:rPr>
              <a:t>   |   </a:t>
            </a:r>
            <a:pPr indent="0" marL="0">
              <a:buNone/>
            </a:pPr>
            <a:r>
              <a:rPr lang="en-US" sz="900" i="1" dirty="0">
                <a:solidFill>
                  <a:srgbClr val="5C6F94"/>
                </a:solidFill>
                <a:latin typeface="Calibri" pitchFamily="34" charset="0"/>
                <a:ea typeface="Calibri" pitchFamily="34" charset="-122"/>
                <a:cs typeface="Calibri" pitchFamily="34" charset="-120"/>
              </a:rPr>
              <a:t>Cooperative MARL · RWARE</a:t>
            </a:r>
            <a:endParaRPr lang="en-US" sz="900" dirty="0"/>
          </a:p>
        </p:txBody>
      </p:sp>
      <p:sp>
        <p:nvSpPr>
          <p:cNvPr id="4" name="Text 2"/>
          <p:cNvSpPr/>
          <p:nvPr/>
        </p:nvSpPr>
        <p:spPr>
          <a:xfrm>
            <a:off x="11094415" y="6537960"/>
            <a:ext cx="822960" cy="228600"/>
          </a:xfrm>
          <a:prstGeom prst="rect">
            <a:avLst/>
          </a:prstGeom>
          <a:noFill/>
          <a:ln/>
        </p:spPr>
        <p:txBody>
          <a:bodyPr wrap="square" lIns="0" tIns="0" rIns="0" bIns="0" rtlCol="0" anchor="ctr"/>
          <a:lstStyle/>
          <a:p>
            <a:pPr algn="r" indent="0" marL="0">
              <a:buNone/>
            </a:pPr>
            <a:r>
              <a:rPr lang="en-US" sz="900" dirty="0">
                <a:solidFill>
                  <a:srgbClr val="5C6F94"/>
                </a:solidFill>
                <a:latin typeface="Calibri" pitchFamily="34" charset="0"/>
                <a:ea typeface="Calibri" pitchFamily="34" charset="-122"/>
                <a:cs typeface="Calibri" pitchFamily="34" charset="-120"/>
              </a:rPr>
              <a:t>13 / 13</a:t>
            </a:r>
            <a:endParaRPr lang="en-US" sz="900" dirty="0"/>
          </a:p>
        </p:txBody>
      </p:sp>
      <p:sp>
        <p:nvSpPr>
          <p:cNvPr id="5" name="Text 3"/>
          <p:cNvSpPr/>
          <p:nvPr/>
        </p:nvSpPr>
        <p:spPr>
          <a:xfrm>
            <a:off x="502920" y="292608"/>
            <a:ext cx="10972800" cy="292608"/>
          </a:xfrm>
          <a:prstGeom prst="rect">
            <a:avLst/>
          </a:prstGeom>
          <a:noFill/>
          <a:ln/>
        </p:spPr>
        <p:txBody>
          <a:bodyPr wrap="square" lIns="0" tIns="0" rIns="0" bIns="0" rtlCol="0" anchor="ctr"/>
          <a:lstStyle/>
          <a:p>
            <a:pPr indent="0" marL="0">
              <a:buNone/>
            </a:pPr>
            <a:r>
              <a:rPr lang="en-US" sz="1100" b="1" spc="400" kern="0" dirty="0">
                <a:solidFill>
                  <a:srgbClr val="E8A33D"/>
                </a:solidFill>
                <a:latin typeface="Calibri" pitchFamily="34" charset="0"/>
                <a:ea typeface="Calibri" pitchFamily="34" charset="-122"/>
                <a:cs typeface="Calibri" pitchFamily="34" charset="-120"/>
              </a:rPr>
              <a:t>CONCLUSION</a:t>
            </a:r>
            <a:endParaRPr lang="en-US" sz="1100" dirty="0"/>
          </a:p>
        </p:txBody>
      </p:sp>
      <p:sp>
        <p:nvSpPr>
          <p:cNvPr id="6" name="Text 4"/>
          <p:cNvSpPr/>
          <p:nvPr/>
        </p:nvSpPr>
        <p:spPr>
          <a:xfrm>
            <a:off x="502920" y="566928"/>
            <a:ext cx="11338560" cy="868680"/>
          </a:xfrm>
          <a:prstGeom prst="rect">
            <a:avLst/>
          </a:prstGeom>
          <a:noFill/>
          <a:ln/>
        </p:spPr>
        <p:txBody>
          <a:bodyPr wrap="square" lIns="0" tIns="0" rIns="0" bIns="0" rtlCol="0" anchor="t"/>
          <a:lstStyle/>
          <a:p>
            <a:pPr indent="0" marL="0">
              <a:buNone/>
            </a:pPr>
            <a:r>
              <a:rPr lang="en-US" sz="2800" b="1" dirty="0">
                <a:solidFill>
                  <a:srgbClr val="1E2761"/>
                </a:solidFill>
                <a:latin typeface="Calibri" pitchFamily="34" charset="0"/>
                <a:ea typeface="Calibri" pitchFamily="34" charset="-122"/>
                <a:cs typeface="Calibri" pitchFamily="34" charset="-120"/>
              </a:rPr>
              <a:t>Conclusion and the next disambiguation experiment</a:t>
            </a:r>
            <a:endParaRPr lang="en-US" sz="2800" dirty="0"/>
          </a:p>
        </p:txBody>
      </p:sp>
      <p:sp>
        <p:nvSpPr>
          <p:cNvPr id="7" name="Shape 5"/>
          <p:cNvSpPr/>
          <p:nvPr/>
        </p:nvSpPr>
        <p:spPr>
          <a:xfrm>
            <a:off x="502920" y="1508760"/>
            <a:ext cx="11185855" cy="1280160"/>
          </a:xfrm>
          <a:prstGeom prst="rect">
            <a:avLst/>
          </a:prstGeom>
          <a:solidFill>
            <a:srgbClr val="F4F6FB"/>
          </a:solidFill>
          <a:ln w="9525">
            <a:solidFill>
              <a:srgbClr val="CADCFC"/>
            </a:solidFill>
            <a:prstDash val="solid"/>
          </a:ln>
        </p:spPr>
      </p:sp>
      <p:sp>
        <p:nvSpPr>
          <p:cNvPr id="8" name="Shape 6"/>
          <p:cNvSpPr/>
          <p:nvPr/>
        </p:nvSpPr>
        <p:spPr>
          <a:xfrm>
            <a:off x="502920" y="1508760"/>
            <a:ext cx="73152" cy="1280160"/>
          </a:xfrm>
          <a:prstGeom prst="rect">
            <a:avLst/>
          </a:prstGeom>
          <a:solidFill>
            <a:srgbClr val="E8A33D"/>
          </a:solidFill>
          <a:ln/>
        </p:spPr>
      </p:sp>
      <p:sp>
        <p:nvSpPr>
          <p:cNvPr id="9" name="Text 7"/>
          <p:cNvSpPr/>
          <p:nvPr/>
        </p:nvSpPr>
        <p:spPr>
          <a:xfrm>
            <a:off x="713232" y="1554480"/>
            <a:ext cx="10911535" cy="118872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Conclusion. </a:t>
            </a:r>
            <a:pPr indent="0" marL="0">
              <a:buNone/>
            </a:pPr>
            <a:r>
              <a:rPr lang="en-US" sz="1400" i="1" dirty="0">
                <a:solidFill>
                  <a:srgbClr val="1A1A1A"/>
                </a:solidFill>
                <a:latin typeface="Calibri" pitchFamily="34" charset="0"/>
                <a:ea typeface="Calibri" pitchFamily="34" charset="-122"/>
                <a:cs typeface="Calibri" pitchFamily="34" charset="-120"/>
              </a:rPr>
              <a:t>Learned discrete communication, as trained here, is not a reliable dropout-rescue tool. The signature points to grounding and training dynamics, with environment headroom and control limits as modulators.</a:t>
            </a:r>
            <a:endParaRPr lang="en-US" sz="1600" dirty="0"/>
          </a:p>
        </p:txBody>
      </p:sp>
      <p:sp>
        <p:nvSpPr>
          <p:cNvPr id="10" name="Text 8"/>
          <p:cNvSpPr/>
          <p:nvPr/>
        </p:nvSpPr>
        <p:spPr>
          <a:xfrm>
            <a:off x="502920" y="2971800"/>
            <a:ext cx="64008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Future work — 2×2 of unanswered questions</a:t>
            </a:r>
            <a:pPr indent="0" marL="0">
              <a:buNone/>
            </a:pPr>
            <a:r>
              <a:rPr lang="en-US" sz="1000" i="1" dirty="0">
                <a:solidFill>
                  <a:srgbClr val="5C6F94"/>
                </a:solidFill>
                <a:latin typeface="Calibri" pitchFamily="34" charset="0"/>
                <a:ea typeface="Calibri" pitchFamily="34" charset="-122"/>
                <a:cs typeface="Calibri" pitchFamily="34" charset="-120"/>
              </a:rPr>
              <a:t>    (rows: ↑ headroom · columns: grounding →)</a:t>
            </a:r>
            <a:endParaRPr lang="en-US" sz="1300" dirty="0"/>
          </a:p>
        </p:txBody>
      </p:sp>
      <p:sp>
        <p:nvSpPr>
          <p:cNvPr id="11" name="Shape 9"/>
          <p:cNvSpPr/>
          <p:nvPr/>
        </p:nvSpPr>
        <p:spPr>
          <a:xfrm>
            <a:off x="502920" y="3383280"/>
            <a:ext cx="3200400" cy="1325880"/>
          </a:xfrm>
          <a:prstGeom prst="rect">
            <a:avLst/>
          </a:prstGeom>
          <a:solidFill>
            <a:srgbClr val="F4F6FB"/>
          </a:solidFill>
          <a:ln w="6350">
            <a:solidFill>
              <a:srgbClr val="B9C4DA"/>
            </a:solidFill>
            <a:prstDash val="solid"/>
          </a:ln>
        </p:spPr>
      </p:sp>
      <p:sp>
        <p:nvSpPr>
          <p:cNvPr id="12" name="Text 10"/>
          <p:cNvSpPr/>
          <p:nvPr/>
        </p:nvSpPr>
        <p:spPr>
          <a:xfrm>
            <a:off x="640080" y="3474720"/>
            <a:ext cx="2926080" cy="36576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Ungrounded × Low headroom</a:t>
            </a:r>
            <a:endParaRPr lang="en-US" sz="1200" dirty="0"/>
          </a:p>
        </p:txBody>
      </p:sp>
      <p:sp>
        <p:nvSpPr>
          <p:cNvPr id="13" name="Text 11"/>
          <p:cNvSpPr/>
          <p:nvPr/>
        </p:nvSpPr>
        <p:spPr>
          <a:xfrm>
            <a:off x="640080" y="3840480"/>
            <a:ext cx="2926080" cy="777240"/>
          </a:xfrm>
          <a:prstGeom prst="rect">
            <a:avLst/>
          </a:prstGeom>
          <a:noFill/>
          <a:ln/>
        </p:spPr>
        <p:txBody>
          <a:bodyPr wrap="square" lIns="0" tIns="0" rIns="0" bIns="0" rtlCol="0" anchor="ctr"/>
          <a:lstStyle/>
          <a:p>
            <a:pPr indent="0" marL="0">
              <a:buNone/>
            </a:pPr>
            <a:r>
              <a:rPr lang="en-US" sz="1100" i="1" dirty="0">
                <a:solidFill>
                  <a:srgbClr val="5C6F94"/>
                </a:solidFill>
                <a:latin typeface="Calibri" pitchFamily="34" charset="0"/>
                <a:ea typeface="Calibri" pitchFamily="34" charset="-122"/>
                <a:cs typeface="Calibri" pitchFamily="34" charset="-120"/>
              </a:rPr>
              <a:t>this project (RWARE 4-agent)</a:t>
            </a:r>
            <a:endParaRPr lang="en-US" sz="1100" dirty="0"/>
          </a:p>
        </p:txBody>
      </p:sp>
      <p:sp>
        <p:nvSpPr>
          <p:cNvPr id="14" name="Shape 12"/>
          <p:cNvSpPr/>
          <p:nvPr/>
        </p:nvSpPr>
        <p:spPr>
          <a:xfrm>
            <a:off x="3703320" y="3383280"/>
            <a:ext cx="3200400" cy="1325880"/>
          </a:xfrm>
          <a:prstGeom prst="rect">
            <a:avLst/>
          </a:prstGeom>
          <a:solidFill>
            <a:srgbClr val="FFFFFF"/>
          </a:solidFill>
          <a:ln w="6350">
            <a:solidFill>
              <a:srgbClr val="B9C4DA"/>
            </a:solidFill>
            <a:prstDash val="solid"/>
          </a:ln>
        </p:spPr>
      </p:sp>
      <p:sp>
        <p:nvSpPr>
          <p:cNvPr id="15" name="Text 13"/>
          <p:cNvSpPr/>
          <p:nvPr/>
        </p:nvSpPr>
        <p:spPr>
          <a:xfrm>
            <a:off x="3840480" y="3474720"/>
            <a:ext cx="2926080" cy="36576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Ungrounded × High headroom</a:t>
            </a:r>
            <a:endParaRPr lang="en-US" sz="1200" dirty="0"/>
          </a:p>
        </p:txBody>
      </p:sp>
      <p:sp>
        <p:nvSpPr>
          <p:cNvPr id="16" name="Text 14"/>
          <p:cNvSpPr/>
          <p:nvPr/>
        </p:nvSpPr>
        <p:spPr>
          <a:xfrm>
            <a:off x="3840480" y="3840480"/>
            <a:ext cx="2926080" cy="777240"/>
          </a:xfrm>
          <a:prstGeom prst="rect">
            <a:avLst/>
          </a:prstGeom>
          <a:noFill/>
          <a:ln/>
        </p:spPr>
        <p:txBody>
          <a:bodyPr wrap="square" lIns="0" tIns="0" rIns="0" bIns="0" rtlCol="0" anchor="ctr"/>
          <a:lstStyle/>
          <a:p>
            <a:pPr indent="0" marL="0">
              <a:buNone/>
            </a:pPr>
            <a:r>
              <a:rPr lang="en-US" sz="1100" i="1" dirty="0">
                <a:solidFill>
                  <a:srgbClr val="1A1A1A"/>
                </a:solidFill>
                <a:latin typeface="Calibri" pitchFamily="34" charset="0"/>
                <a:ea typeface="Calibri" pitchFamily="34" charset="-122"/>
                <a:cs typeface="Calibri" pitchFamily="34" charset="-120"/>
              </a:rPr>
              <a:t>easier benchmarks; sanity check</a:t>
            </a:r>
            <a:endParaRPr lang="en-US" sz="1100" dirty="0"/>
          </a:p>
        </p:txBody>
      </p:sp>
      <p:sp>
        <p:nvSpPr>
          <p:cNvPr id="17" name="Shape 15"/>
          <p:cNvSpPr/>
          <p:nvPr/>
        </p:nvSpPr>
        <p:spPr>
          <a:xfrm>
            <a:off x="502920" y="4709160"/>
            <a:ext cx="3200400" cy="1325880"/>
          </a:xfrm>
          <a:prstGeom prst="rect">
            <a:avLst/>
          </a:prstGeom>
          <a:solidFill>
            <a:srgbClr val="FFFFFF"/>
          </a:solidFill>
          <a:ln w="6350">
            <a:solidFill>
              <a:srgbClr val="B9C4DA"/>
            </a:solidFill>
            <a:prstDash val="solid"/>
          </a:ln>
        </p:spPr>
      </p:sp>
      <p:sp>
        <p:nvSpPr>
          <p:cNvPr id="18" name="Text 16"/>
          <p:cNvSpPr/>
          <p:nvPr/>
        </p:nvSpPr>
        <p:spPr>
          <a:xfrm>
            <a:off x="640080" y="4800600"/>
            <a:ext cx="2926080" cy="36576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Grounded × Low headroom</a:t>
            </a:r>
            <a:endParaRPr lang="en-US" sz="1200" dirty="0"/>
          </a:p>
        </p:txBody>
      </p:sp>
      <p:sp>
        <p:nvSpPr>
          <p:cNvPr id="19" name="Text 17"/>
          <p:cNvSpPr/>
          <p:nvPr/>
        </p:nvSpPr>
        <p:spPr>
          <a:xfrm>
            <a:off x="640080" y="5166360"/>
            <a:ext cx="2926080" cy="777240"/>
          </a:xfrm>
          <a:prstGeom prst="rect">
            <a:avLst/>
          </a:prstGeom>
          <a:noFill/>
          <a:ln/>
        </p:spPr>
        <p:txBody>
          <a:bodyPr wrap="square" lIns="0" tIns="0" rIns="0" bIns="0" rtlCol="0" anchor="ctr"/>
          <a:lstStyle/>
          <a:p>
            <a:pPr indent="0" marL="0">
              <a:buNone/>
            </a:pPr>
            <a:r>
              <a:rPr lang="en-US" sz="1100" i="1" dirty="0">
                <a:solidFill>
                  <a:srgbClr val="1A1A1A"/>
                </a:solidFill>
                <a:latin typeface="Calibri" pitchFamily="34" charset="0"/>
                <a:ea typeface="Calibri" pitchFamily="34" charset="-122"/>
                <a:cs typeface="Calibri" pitchFamily="34" charset="-120"/>
              </a:rPr>
              <a:t>DIAL / Gumbel-Softmax on RWARE</a:t>
            </a:r>
            <a:endParaRPr lang="en-US" sz="1100" dirty="0"/>
          </a:p>
        </p:txBody>
      </p:sp>
      <p:sp>
        <p:nvSpPr>
          <p:cNvPr id="20" name="Shape 18"/>
          <p:cNvSpPr/>
          <p:nvPr/>
        </p:nvSpPr>
        <p:spPr>
          <a:xfrm>
            <a:off x="3703320" y="4709160"/>
            <a:ext cx="3200400" cy="1325880"/>
          </a:xfrm>
          <a:prstGeom prst="rect">
            <a:avLst/>
          </a:prstGeom>
          <a:solidFill>
            <a:srgbClr val="CADCFC"/>
          </a:solidFill>
          <a:ln w="6350">
            <a:solidFill>
              <a:srgbClr val="B9C4DA"/>
            </a:solidFill>
            <a:prstDash val="solid"/>
          </a:ln>
        </p:spPr>
      </p:sp>
      <p:sp>
        <p:nvSpPr>
          <p:cNvPr id="21" name="Text 19"/>
          <p:cNvSpPr/>
          <p:nvPr/>
        </p:nvSpPr>
        <p:spPr>
          <a:xfrm>
            <a:off x="3840480" y="4800600"/>
            <a:ext cx="2926080" cy="36576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Grounded × High headroom</a:t>
            </a:r>
            <a:endParaRPr lang="en-US" sz="1200" dirty="0"/>
          </a:p>
        </p:txBody>
      </p:sp>
      <p:sp>
        <p:nvSpPr>
          <p:cNvPr id="22" name="Text 20"/>
          <p:cNvSpPr/>
          <p:nvPr/>
        </p:nvSpPr>
        <p:spPr>
          <a:xfrm>
            <a:off x="3840480" y="5166360"/>
            <a:ext cx="2926080" cy="777240"/>
          </a:xfrm>
          <a:prstGeom prst="rect">
            <a:avLst/>
          </a:prstGeom>
          <a:noFill/>
          <a:ln/>
        </p:spPr>
        <p:txBody>
          <a:bodyPr wrap="square" lIns="0" tIns="0" rIns="0" bIns="0" rtlCol="0" anchor="ctr"/>
          <a:lstStyle/>
          <a:p>
            <a:pPr indent="0" marL="0">
              <a:buNone/>
            </a:pPr>
            <a:r>
              <a:rPr lang="en-US" sz="1100" i="1" dirty="0">
                <a:solidFill>
                  <a:srgbClr val="1E2761"/>
                </a:solidFill>
                <a:latin typeface="Calibri" pitchFamily="34" charset="0"/>
                <a:ea typeface="Calibri" pitchFamily="34" charset="-122"/>
                <a:cs typeface="Calibri" pitchFamily="34" charset="-120"/>
              </a:rPr>
              <a:t>next study (deliberate target)</a:t>
            </a:r>
            <a:endParaRPr lang="en-US" sz="1100" dirty="0"/>
          </a:p>
        </p:txBody>
      </p:sp>
      <p:sp>
        <p:nvSpPr>
          <p:cNvPr id="23" name="Shape 21"/>
          <p:cNvSpPr/>
          <p:nvPr/>
        </p:nvSpPr>
        <p:spPr>
          <a:xfrm>
            <a:off x="7178040" y="2971800"/>
            <a:ext cx="4556455" cy="3108960"/>
          </a:xfrm>
          <a:prstGeom prst="rect">
            <a:avLst/>
          </a:prstGeom>
          <a:solidFill>
            <a:srgbClr val="F4F6FB"/>
          </a:solidFill>
          <a:ln w="9525">
            <a:solidFill>
              <a:srgbClr val="CADCFC"/>
            </a:solidFill>
            <a:prstDash val="solid"/>
          </a:ln>
        </p:spPr>
      </p:sp>
      <p:sp>
        <p:nvSpPr>
          <p:cNvPr id="24" name="Text 22"/>
          <p:cNvSpPr/>
          <p:nvPr/>
        </p:nvSpPr>
        <p:spPr>
          <a:xfrm>
            <a:off x="7360920" y="3063240"/>
            <a:ext cx="428213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References (IEEE-style, cited)</a:t>
            </a:r>
            <a:endParaRPr lang="en-US" sz="1300" dirty="0"/>
          </a:p>
        </p:txBody>
      </p:sp>
      <p:sp>
        <p:nvSpPr>
          <p:cNvPr id="25" name="Text 23"/>
          <p:cNvSpPr/>
          <p:nvPr/>
        </p:nvSpPr>
        <p:spPr>
          <a:xfrm>
            <a:off x="7360920" y="3429000"/>
            <a:ext cx="4282135" cy="2560320"/>
          </a:xfrm>
          <a:prstGeom prst="rect">
            <a:avLst/>
          </a:prstGeom>
          <a:noFill/>
          <a:ln/>
        </p:spPr>
        <p:txBody>
          <a:bodyPr wrap="square" lIns="0" tIns="0" rIns="0" bIns="0" rtlCol="0" anchor="t"/>
          <a:lstStyle/>
          <a:p>
            <a:pPr indent="0" marL="0">
              <a:spcAft>
                <a:spcPts val="600"/>
              </a:spcAft>
              <a:buNone/>
            </a:pPr>
            <a:r>
              <a:rPr lang="en-US" sz="1100" b="1" dirty="0">
                <a:solidFill>
                  <a:srgbClr val="1E2761"/>
                </a:solidFill>
                <a:latin typeface="Calibri" pitchFamily="34" charset="0"/>
                <a:ea typeface="Calibri" pitchFamily="34" charset="-122"/>
                <a:cs typeface="Calibri" pitchFamily="34" charset="-120"/>
              </a:rPr>
              <a:t>[1] </a:t>
            </a:r>
            <a:pPr indent="0" marL="0">
              <a:spcAft>
                <a:spcPts val="600"/>
              </a:spcAft>
              <a:buNone/>
            </a:pPr>
            <a:r>
              <a:rPr lang="en-US" sz="1100" dirty="0">
                <a:solidFill>
                  <a:srgbClr val="1A1A1A"/>
                </a:solidFill>
                <a:latin typeface="Calibri" pitchFamily="34" charset="0"/>
                <a:ea typeface="Calibri" pitchFamily="34" charset="-122"/>
                <a:cs typeface="Calibri" pitchFamily="34" charset="-120"/>
              </a:rPr>
              <a:t>J. N. Foerster et al., “Learning to communicate with deep multi-agent reinforcement learning,” NeurIPS, 2016.</a:t>
            </a:r>
            <a:endParaRPr lang="en-US" sz="1100" dirty="0"/>
          </a:p>
          <a:p>
            <a:pPr indent="0" marL="0">
              <a:spcAft>
                <a:spcPts val="600"/>
              </a:spcAft>
              <a:buNone/>
            </a:pPr>
            <a:r>
              <a:rPr lang="en-US" sz="1100" b="1" dirty="0">
                <a:solidFill>
                  <a:srgbClr val="1E2761"/>
                </a:solidFill>
                <a:latin typeface="Calibri" pitchFamily="34" charset="0"/>
                <a:ea typeface="Calibri" pitchFamily="34" charset="-122"/>
                <a:cs typeface="Calibri" pitchFamily="34" charset="-120"/>
              </a:rPr>
              <a:t>[2] </a:t>
            </a:r>
            <a:pPr indent="0" marL="0">
              <a:spcAft>
                <a:spcPts val="600"/>
              </a:spcAft>
              <a:buNone/>
            </a:pPr>
            <a:r>
              <a:rPr lang="en-US" sz="1100" dirty="0">
                <a:solidFill>
                  <a:srgbClr val="1A1A1A"/>
                </a:solidFill>
                <a:latin typeface="Calibri" pitchFamily="34" charset="0"/>
                <a:ea typeface="Calibri" pitchFamily="34" charset="-122"/>
                <a:cs typeface="Calibri" pitchFamily="34" charset="-120"/>
              </a:rPr>
              <a:t>C. Yu et al., “The surprising effectiveness of PPO in cooperative multi-agent games (MAPPO),” NeurIPS, 2022.</a:t>
            </a:r>
            <a:endParaRPr lang="en-US" sz="1100" dirty="0"/>
          </a:p>
          <a:p>
            <a:pPr indent="0" marL="0">
              <a:spcAft>
                <a:spcPts val="600"/>
              </a:spcAft>
              <a:buNone/>
            </a:pPr>
            <a:r>
              <a:rPr lang="en-US" sz="1100" b="1" dirty="0">
                <a:solidFill>
                  <a:srgbClr val="1E2761"/>
                </a:solidFill>
                <a:latin typeface="Calibri" pitchFamily="34" charset="0"/>
                <a:ea typeface="Calibri" pitchFamily="34" charset="-122"/>
                <a:cs typeface="Calibri" pitchFamily="34" charset="-120"/>
              </a:rPr>
              <a:t>[3] </a:t>
            </a:r>
            <a:pPr indent="0" marL="0">
              <a:spcAft>
                <a:spcPts val="600"/>
              </a:spcAft>
              <a:buNone/>
            </a:pPr>
            <a:r>
              <a:rPr lang="en-US" sz="1100" dirty="0">
                <a:solidFill>
                  <a:srgbClr val="1A1A1A"/>
                </a:solidFill>
                <a:latin typeface="Calibri" pitchFamily="34" charset="0"/>
                <a:ea typeface="Calibri" pitchFamily="34" charset="-122"/>
                <a:cs typeface="Calibri" pitchFamily="34" charset="-120"/>
              </a:rPr>
              <a:t>F. Christianos, L. Schäfer and S. V. Albrecht, “Robotic Warehouse (RWARE),” GitHub, 2020.</a:t>
            </a:r>
            <a:endParaRPr lang="en-US" sz="1100" dirty="0"/>
          </a:p>
          <a:p>
            <a:pPr indent="0" marL="0">
              <a:spcAft>
                <a:spcPts val="600"/>
              </a:spcAft>
              <a:buNone/>
            </a:pPr>
            <a:r>
              <a:rPr lang="en-US" sz="1100" b="1" dirty="0">
                <a:solidFill>
                  <a:srgbClr val="1E2761"/>
                </a:solidFill>
                <a:latin typeface="Calibri" pitchFamily="34" charset="0"/>
                <a:ea typeface="Calibri" pitchFamily="34" charset="-122"/>
                <a:cs typeface="Calibri" pitchFamily="34" charset="-120"/>
              </a:rPr>
              <a:t>[4] </a:t>
            </a:r>
            <a:pPr indent="0" marL="0">
              <a:spcAft>
                <a:spcPts val="600"/>
              </a:spcAft>
              <a:buNone/>
            </a:pPr>
            <a:r>
              <a:rPr lang="en-US" sz="1100" dirty="0">
                <a:solidFill>
                  <a:srgbClr val="1A1A1A"/>
                </a:solidFill>
                <a:latin typeface="Calibri" pitchFamily="34" charset="0"/>
                <a:ea typeface="Calibri" pitchFamily="34" charset="-122"/>
                <a:cs typeface="Calibri" pitchFamily="34" charset="-120"/>
              </a:rPr>
              <a:t>E. Jang, S. Gu and B. Poole, “Categorical reparameterization with Gumbel-Softmax,” ICLR, 2017.</a:t>
            </a:r>
            <a:endParaRPr lang="en-US" sz="1100" dirty="0"/>
          </a:p>
          <a:p>
            <a:pPr indent="0" marL="0">
              <a:spcAft>
                <a:spcPts val="600"/>
              </a:spcAft>
              <a:buNone/>
            </a:pPr>
            <a:r>
              <a:rPr lang="en-US" sz="1100" b="1" dirty="0">
                <a:solidFill>
                  <a:srgbClr val="1E2761"/>
                </a:solidFill>
                <a:latin typeface="Calibri" pitchFamily="34" charset="0"/>
                <a:ea typeface="Calibri" pitchFamily="34" charset="-122"/>
                <a:cs typeface="Calibri" pitchFamily="34" charset="-120"/>
              </a:rPr>
              <a:t>[5] </a:t>
            </a:r>
            <a:pPr indent="0" marL="0">
              <a:spcAft>
                <a:spcPts val="600"/>
              </a:spcAft>
              <a:buNone/>
            </a:pPr>
            <a:r>
              <a:rPr lang="en-US" sz="1100" dirty="0">
                <a:solidFill>
                  <a:srgbClr val="1A1A1A"/>
                </a:solidFill>
                <a:latin typeface="Calibri" pitchFamily="34" charset="0"/>
                <a:ea typeface="Calibri" pitchFamily="34" charset="-122"/>
                <a:cs typeface="Calibri" pitchFamily="34" charset="-120"/>
              </a:rPr>
              <a:t>L. Lamport, “Time, clocks, and the ordering of events in a distributed system,” Commun. ACM, 1978.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Under Delayed Liveness</dc:title>
  <dc:subject>PptxGenJS Presentation</dc:subject>
  <dc:creator>Sam Chen</dc:creator>
  <cp:lastModifiedBy>Sam Chen</cp:lastModifiedBy>
  <cp:revision>1</cp:revision>
  <dcterms:created xsi:type="dcterms:W3CDTF">2026-04-26T04:12:57Z</dcterms:created>
  <dcterms:modified xsi:type="dcterms:W3CDTF">2026-04-26T04:12:57Z</dcterms:modified>
</cp:coreProperties>
</file>